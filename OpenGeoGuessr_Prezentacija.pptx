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Open GeoGuessr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</a:rPr>
              <a:t>Multiplayer geografska igra u realnom vremenu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3520440"/>
            <a:ext cx="11365992" cy="15240"/>
          </a:xfrm>
          <a:prstGeom prst="rect">
            <a:avLst/>
          </a:prstGeom>
          <a:solidFill>
            <a:srgbClr val="2D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749039"/>
            <a:ext cx="26517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B82F6"/>
                </a:solidFill>
              </a:rPr>
              <a:t>Backend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Node.js  ·  Express  ·  TypeScript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3749039"/>
            <a:ext cx="26517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B82F6"/>
                </a:solidFill>
              </a:rPr>
              <a:t>Frontend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React  ·  TypeScript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3749039"/>
            <a:ext cx="26517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B82F6"/>
                </a:solidFill>
              </a:rPr>
              <a:t>Baza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MongoDB  ·  Mongoose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9719" y="3749039"/>
            <a:ext cx="26517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B82F6"/>
                </a:solidFill>
              </a:rPr>
              <a:t>Real-time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WebSocket (ws)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ABF"/>
                </a:solidFill>
              </a:rPr>
              <a:t>Prezentacija pokriva: arhitekturu aplikacije  ·  perzistenciju podataka  ·  real-time komunikaciju  ·  projektne obrasce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237744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01  PREGLED APLIKACIJE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Šta je Open GeoGuessr?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ABF"/>
                </a:solidFill>
              </a:rPr>
              <a:t>Open-source multiplayer GeoGuessr klon — igrači gledaju fotografiju lokacije i pogađaju mesto na mapi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11365992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FFFFFF"/>
                </a:solidFill>
              </a:rPr>
              <a:t>Svaka runda prikazuje fotografiju nepoznate lokacije na svetu (Google Street View ili Mapillary). </a:t>
            </a:r>
            <a:r>
              <a:rPr sz="1400">
                <a:solidFill>
                  <a:srgbClr val="A0AABF"/>
                </a:solidFill>
              </a:rPr>
              <a:t>Igrač klika na mapu gde misli da se lokacija nalazi. Skor zavisi od preciznosti pogotka, brzine, korišćenja hintova i aktivnog game moda.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971800"/>
            <a:ext cx="352044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B82F6"/>
                </a:solidFill>
              </a:rPr>
              <a:t>🌍  Lokacije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Famous landmarks (39 lokacija)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World mode: Google Street View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Mapillary integracija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2971800"/>
            <a:ext cx="352044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0B981"/>
                </a:solidFill>
              </a:rPr>
              <a:t>🎮  Game modovi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Standard: 5 rundi, najveći ukupni skor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Elimination: najgori igrač ispada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Timovi: 2v2 tim mod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0" y="2971800"/>
            <a:ext cx="352044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9E0B"/>
                </a:solidFill>
              </a:rPr>
              <a:t>💬  Komunikacija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Globalni chat u realnom vremenu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Tim chat (izolovani po timu)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Live pin — vidite kretanje igrača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352044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B82F6"/>
                </a:solidFill>
              </a:rPr>
              <a:t>🏆  Scoring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Kvadratni pad po distanci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Vremenski bonus (Elimination)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Kazna za hintove (−15% po hintu)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Bonus za preciznost &lt; 100 km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4663440"/>
            <a:ext cx="352044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0B981"/>
                </a:solidFill>
              </a:rPr>
              <a:t>🔍  Hintovi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Continent hint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Country hint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Omogućeni/onemogućeni po sobi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4663440"/>
            <a:ext cx="352044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9E0B"/>
                </a:solidFill>
              </a:rPr>
              <a:t>📊  Leaderboard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Globalni leaderboard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Ukupni skor po igraču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  Broj odigranih igara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237744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01  PREGLED APLIKACIJE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Tehnološki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ABF"/>
                </a:solidFill>
              </a:rPr>
              <a:t>Full-stack TypeScript aplikacija podeljena na API sloj i React webapp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74519"/>
            <a:ext cx="3749039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B82F6"/>
                </a:solidFill>
              </a:rPr>
              <a:t>Backend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0AABF"/>
                </a:solidFill>
              </a:rPr>
              <a:t>▸  Node.js + Express  —  HTTP server i REST API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0AABF"/>
                </a:solidFill>
              </a:rPr>
              <a:t>▸  TypeScript  —  statičko tipiziranje kroz ceo backend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0AABF"/>
                </a:solidFill>
              </a:rPr>
              <a:t>▸  TypeDI  —  Dependency Injection kontejner (@Service decorator)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0AABF"/>
                </a:solidFill>
              </a:rPr>
              <a:t>▸  ws  —  native WebSocket server (nema Socket.IO overhead-a)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0AABF"/>
                </a:solidFill>
              </a:rPr>
              <a:t>▸  jsonwebtoken  —  JWT autentifikacija za HTTP i WS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0AABF"/>
                </a:solidFill>
              </a:rPr>
              <a:t>▸  axios  —  HTTP klijent za externe API pozive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874519"/>
            <a:ext cx="3749039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0B981"/>
                </a:solidFill>
              </a:rPr>
              <a:t>Frontend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0AABF"/>
                </a:solidFill>
              </a:rPr>
              <a:t>▸  React 18  —  SPA, funkcionalne komponente + hooks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0AABF"/>
                </a:solidFill>
              </a:rPr>
              <a:t>▸  TypeScript  —  tip-safe state, eventi, API tipovi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0AABF"/>
                </a:solidFill>
              </a:rPr>
              <a:t>▸  React Context + useReducer  —  globalni state menadžment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0AABF"/>
                </a:solidFill>
              </a:rPr>
              <a:t>▸  SCSS  —  modularni stilovi po komponenti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0AABF"/>
                </a:solidFill>
              </a:rPr>
              <a:t>▸  Mapillary JS SDK  —  360° panorame iz Mapillary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0AABF"/>
                </a:solidFill>
              </a:rPr>
              <a:t>▸  Google Maps JS API  —  mapa za postavljanje guessa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19" y="1874519"/>
            <a:ext cx="3749039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9E0B"/>
                </a:solidFill>
              </a:rPr>
              <a:t>Infrastruktura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0AABF"/>
                </a:solidFill>
              </a:rPr>
              <a:t>▸  MongoDB  —  NoSQL document baza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0AABF"/>
                </a:solidFill>
              </a:rPr>
              <a:t>▸  Mongoose  —  ODM, Schema definicija, validacija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0AABF"/>
                </a:solidFill>
              </a:rPr>
              <a:t>▸  Google Street View API  —  verifikacija i dohvat panorama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0AABF"/>
                </a:solidFill>
              </a:rPr>
              <a:t>▸  BigDataCloud API  —  reverse geocoding (country/continent hint)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A0AABF"/>
                </a:solidFill>
              </a:rPr>
              <a:t>▸  Mapillary API  —  alternativni izvor Street View slika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23774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02  PERZISTENCIJA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MongoDB + Mongoose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ABF"/>
                </a:solidFill>
              </a:rPr>
              <a:t>NoSQL document baza i ODM sloj koji mapira TypeScript klase na MongoDB kolekcije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5394960" cy="4663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0B981"/>
                </a:solidFill>
              </a:rPr>
              <a:t>MongoDB — Zašto?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0B981"/>
                </a:solidFill>
              </a:rPr>
              <a:t>✅  Fleksibilna šema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Nested arrays za guesses i rounds — bez JOIN operacija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0B981"/>
                </a:solidFill>
              </a:rPr>
              <a:t>✅  JSON-native format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Podaci u formatu identičnom REST response-u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0B981"/>
                </a:solidFill>
              </a:rPr>
              <a:t>✅  Atomske operacije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$inc, $set, $push, arrayFilters — bez custom transakcija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10B981"/>
                </a:solidFill>
              </a:rPr>
              <a:t>✅  Agregacije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$sample za nasumičnu lokaciju, $sort za leaderboard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59E0B"/>
                </a:solidFill>
              </a:rPr>
              <a:t>⚠️  Bez JOIN-ova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Denormalizacija — igrač se ponavlja u Room i User kolekciji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59E0B"/>
                </a:solidFill>
              </a:rPr>
              <a:t>⚠️  Schema enforcement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Mora se raditi na nivou aplikacije (Mongoose validacija)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920240"/>
            <a:ext cx="5788152" cy="4663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0B981"/>
                </a:solidFill>
              </a:rPr>
              <a:t>Mongoose ODM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</a:rPr>
              <a:t>▸  Schema definicija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A0AABF"/>
                </a:solidFill>
              </a:rPr>
              <a:t>    Svaka kolekcija ima TypeScript interface (IRoom, IUser, ICachedLocation) i Mongoose Schema koji osigurava tipove i default vrednosti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</a:rPr>
              <a:t>▸  @Service() integracija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A0AABF"/>
                </a:solidFill>
              </a:rPr>
              <a:t>    Mongoose Model se injektuje kroz Repository klase — servisi nikad direktno ne vide Model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</a:rPr>
              <a:t>▸  Middleware podrška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A0AABF"/>
                </a:solidFill>
              </a:rPr>
              <a:t>    pre/post hooks, virtuals, methods — lako proširivanje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</a:rPr>
              <a:t>▸  Type safety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A0AABF"/>
                </a:solidFill>
              </a:rPr>
              <a:t>    Document, FilterQuery&lt;T&gt;, UpdateQuery&lt;T&gt; — kompajler hvata greške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23774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02  PERZISTENCIJA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Room Model — Mongoose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ABF"/>
                </a:solidFill>
              </a:rPr>
              <a:t>Centralni entitet aplikacije: sadrži igrače, runde, gessove i chat u jednom dokumentu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74519"/>
            <a:ext cx="5760720" cy="4663440"/>
          </a:xfrm>
          <a:prstGeom prst="rect">
            <a:avLst/>
          </a:prstGeom>
          <a:solidFill>
            <a:srgbClr val="0D1B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const RoomSchema = new Schema&lt;IRoom&gt;({
  code:     { type: String, required: true, unique: true },
  hostId:   { type: String, required: true },
  status:   { type: String,
              enum: ['waiting','countdown',
                     'playing','round_results','game_over'],
              default: 'waiting' },
  gameMode: { type: String,
              enum: ['standard','elimination'],
              default: 'standard' },
  players:  [PlayerSchema],   // embedded array
  rounds:   [RoundSchema],    // embedded array
  messages: [ChatMessageSchema],
  hintsEnabled:      { type: Boolean, default: false },
  teamsEnabled:      { type: Boolean, default: false },
  teamSize:          { type: Number,  default: 2 },
  eliminatedPlayerIds: { type: [String], default: [] },
  totalRounds:          { type: Number, default: 5 },
  roundDurationSeconds: { type: Number, default: 60 },
}, { timestamps: true 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81911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room.model.ts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874519"/>
            <a:ext cx="5486400" cy="4663440"/>
          </a:xfrm>
          <a:prstGeom prst="rect">
            <a:avLst/>
          </a:prstGeom>
          <a:solidFill>
            <a:srgbClr val="0D1B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// PlayerSchema (embedded u Room)
const PlayerSchema = new Schema({
  userId:   String,
  username: String,
  isHost:   Boolean,
  score:    { type: Number, default: 0 },
  connected:{ type: Boolean, default: true },
  teamId:   { type: Number },   // tim 1 ili 2
}, { _id: false });
// RoundGuessSchema (embedded u Round)
const RoundGuessSchema = new Schema({
  userId:      String,
  lat:         Number,
  lng:         Number,
  distanceKm:  Number,
  roundScore:  Number,
  submittedAt: Number,
}, { _id: false });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8191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embedded schemas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23774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02  PERZISTENCIJA  ·  REPOSITORY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Repository Pattern — Apstrakcija nad bazom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ABF"/>
                </a:solidFill>
              </a:rPr>
              <a:t>Servisi rade sa domenskim metodama — bez ijednog Mongoose poziva u poslovnoj logici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5486400" cy="3017520"/>
          </a:xfrm>
          <a:prstGeom prst="rect">
            <a:avLst/>
          </a:prstGeom>
          <a:solidFill>
            <a:srgbClr val="0D1B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900">
                <a:solidFill>
                  <a:srgbClr val="98FFD0"/>
                </a:solidFill>
                <a:latin typeface="Courier New"/>
              </a:rPr>
              <a:t>    BaseRepository&lt;T extends Document&gt;
    ┌──────────────────────────────────────────┐
    │ # model: Model&lt;T&gt;                        │
    │                                          │
    │ + findById(id)      + create(data)       │
    │ + findOne(filter)   + updateById(id,data)│
    │ + findMany(filter)  + deleteById(id)     │
    │ + findPaginated(…)  + exists(filter)     │
    └──────────────────┬───────────────────────┘
                       │ extends
          ┌────────────┼──────────────────┐
          ▼            ▼                  ▼
    UserRepository  RoomRepository  CachedLocationRepository
    + findByEmail   + findByCode    + pickRandom()
    + updateScore   + addPlayer     + markUsed()
    + getLeaderboard+ addGuessToRound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920240"/>
            <a:ext cx="5742432" cy="3017520"/>
          </a:xfrm>
          <a:prstGeom prst="rect">
            <a:avLst/>
          </a:prstGeom>
          <a:solidFill>
            <a:srgbClr val="0D1B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// LeaderboardObserver — ne zna ništa o Mongoose
@Service()
export class LeaderboardObserver implements GameObserver {
  constructor(private readonly userRepository: UserRepository) {}
  async onGameOver(event: GameOverEvent): Promise&lt;void&gt; {
    await Promise.all(
      event.players.map((p) =&gt;
        this.userRepository.updateScore(p.userId, p.score)
      )
    );
  }
}
// UserRepository — enkapsulira Mongoose
async updateScore(userId: string, scoreToAdd: number) {
  await this.model.findByIdAndUpdate(userId, {
    $inc: { totalScore: scoreToAdd, gamesPlayed: 1 },
  }).exec();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27632"/>
            <a:ext cx="5742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primer upotrebe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5074920"/>
            <a:ext cx="557784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Bez Repository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9048" y="5074920"/>
            <a:ext cx="55778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Sa Repository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422392"/>
            <a:ext cx="55778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A0AABF"/>
                </a:solidFill>
              </a:rPr>
              <a:t>UserModel.findByIdAndUpdate(...) u servisu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48" y="5422392"/>
            <a:ext cx="55778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0B981"/>
                </a:solidFill>
              </a:rPr>
              <a:t>userRepository.updateScore(...) u servisu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17733819192"/>
            <a:ext cx="55778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A0AABF"/>
                </a:solidFill>
              </a:rPr>
              <a:t>Promena ORM-a → izmena svih servisa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317733819192"/>
            <a:ext cx="55778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0B981"/>
                </a:solidFill>
              </a:rPr>
              <a:t>Promena ORM-a → izmena samo repository klasa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35462215992"/>
            <a:ext cx="55778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A0AABF"/>
                </a:solidFill>
              </a:rPr>
              <a:t>Mongoose $inc, $set razasut kroz logiku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8" y="635462215992"/>
            <a:ext cx="55778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0B981"/>
                </a:solidFill>
              </a:rPr>
              <a:t>Sve DB specifičnosti u jednom sloju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953190612792"/>
            <a:ext cx="55778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A0AABF"/>
                </a:solidFill>
              </a:rPr>
              <a:t>Testiranje zahteva pravi MongoDB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048" y="953190612792"/>
            <a:ext cx="557784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10B981"/>
                </a:solidFill>
              </a:rPr>
              <a:t>Repository se lako mock-uje u testovima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23774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03  REAL-TIME KOMUNIKACIJA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WebSocket Arhitektura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ABF"/>
                </a:solidFill>
              </a:rPr>
              <a:t>Persistentna dvosmerna veza između klijenta i servera — bez polling-a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11365992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9E0B"/>
                </a:solidFill>
              </a:rPr>
              <a:t>1  Handshake + Auth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Klijent otvara WS konekciju sa JWT tokenom u URL query stringu
→  ws://server?token=&lt;jwt&gt;
Server verifikuje token, kreira AuthenticatedClient (userId, username, roomCode)
i šalje 'connected' event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926080"/>
            <a:ext cx="11365992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9E0B"/>
                </a:solidFill>
              </a:rPr>
              <a:t>2  Join Room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Klijent šalje: { event: 'join_room', data: { roomCode } }
Server dodaje igrača u Room dokument i broadcastuje 'room_updated'
svim klijentima u sobi — svi vide promenu odmah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4160520"/>
            <a:ext cx="11365992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9E0B"/>
                </a:solidFill>
              </a:rPr>
              <a:t>3  Game Loop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Server autonomno vodi igru (setTimeout za runde)
Broadcastuje: round_started → countdown_tick → round_ended → game_over
Klijenti šalju: submit_guess, pin_move, send_message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5394960"/>
            <a:ext cx="11365992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9E0B"/>
                </a:solidFill>
              </a:rPr>
              <a:t>4  Disconnect handling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A0AABF"/>
                </a:solidFill>
              </a:rPr>
              <a:t>Klijent koji se diskonektuje → server ažurira connected=false
Ostali igrači dobijaju room_updated, igrač može da se reconnektuje
i dobija catch-up event (trenutno stanje runde)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23774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03  REAL-TIME KOMUNIKACIJA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WebSocket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ABF"/>
                </a:solidFill>
              </a:rPr>
              <a:t>Sve komunikacije idu kroz JSON poruke oblika { event, data }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5394960" cy="4663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59E0B"/>
                </a:solidFill>
              </a:rPr>
              <a:t>Client → Server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59E0B"/>
                </a:solidFill>
              </a:rPr>
              <a:t>join_room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Ulazak u sobu, dobija room snapshot i chat history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59E0B"/>
                </a:solidFill>
              </a:rPr>
              <a:t>leave_room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Napuštanje sobe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59E0B"/>
                </a:solidFill>
              </a:rPr>
              <a:t>send_message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Globalni chat — poruka se broadcast-uje svim igračima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59E0B"/>
                </a:solidFill>
              </a:rPr>
              <a:t>send_team_message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Tim chat — samo članovi istog tima primaju poruku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59E0B"/>
                </a:solidFill>
              </a:rPr>
              <a:t>join_team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Igrač bira tim (1 ili 2), server validira kapacitet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59E0B"/>
                </a:solidFill>
              </a:rPr>
              <a:t>pin_move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Live GPS pin — spektatori i saigrači vide kretanje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920240"/>
            <a:ext cx="5788152" cy="4663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82F6"/>
                </a:solidFill>
              </a:rPr>
              <a:t>Server → Client (broadcast)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3B82F6"/>
                </a:solidFill>
              </a:rPr>
              <a:t>connected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Potvrda konekcije (userId, username)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3B82F6"/>
                </a:solidFill>
              </a:rPr>
              <a:t>room_updated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Svaka promena sobe — igrači, status, timovi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3B82F6"/>
                </a:solidFill>
              </a:rPr>
              <a:t>game_countdown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Start countdown (5 sekundi)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3B82F6"/>
                </a:solidFill>
              </a:rPr>
              <a:t>round_started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Podaci o rundi: lokacija, trajanje, gameMode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3B82F6"/>
                </a:solidFill>
              </a:rPr>
              <a:t>round_ended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Rezultati runde, guesses svih igrača, isLastRound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3B82F6"/>
                </a:solidFill>
              </a:rPr>
              <a:t>game_over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Finalni ranking igrača sortiran po skoru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3B82F6"/>
                </a:solidFill>
              </a:rPr>
              <a:t>pin_moved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Live koordinate igrača za SpectatorMap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3B82F6"/>
                </a:solidFill>
              </a:rPr>
              <a:t>new_team_message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Tim poruka (samo tim koji je poslao)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3B82F6"/>
                </a:solidFill>
              </a:rPr>
              <a:t>chat_history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Chat history pri join-u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3B82F6"/>
                </a:solidFill>
              </a:rPr>
              <a:t>round_countdown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A0AABF"/>
                </a:solidFill>
              </a:rPr>
              <a:t>    3-2-1 countdown između rundi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23774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03  REAL-TIME KOMUNIKACIJA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WebSocket — Implementacija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ABF"/>
                </a:solidFill>
              </a:rPr>
              <a:t>JWT autentifikacija na konekciji, typed klijenti, event dispatcher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5394960" cy="4663440"/>
          </a:xfrm>
          <a:prstGeom prst="rect">
            <a:avLst/>
          </a:prstGeom>
          <a:solidFill>
            <a:srgbClr val="0D1B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// ws.server.ts — JWT auth na konekciji
wss.on('connection', (ws, req) =&gt; {
  const token = extractToken(req); // iz URL query stringa
  if (!token) { ws.close(4001, 'Unauthorized'); return; }
  const payload = verifyToken(token);  // bacit će grešku ako istekao
  const client  = ws as AuthenticatedClient;
  client.userId   = payload.userId;
  client.username = payload.username;
  clients.set(userId, client);
  client.on('message', async (raw) =&gt; {
    const { event, data } = JSON.parse(raw.toString());
    await gameHandler.handle(client, event, data);
  });
  client.on('close', async () =&gt; {
    await gameHandler.handleDisconnect(client);
    clients.delete(userId);
  });
  client.send(JSON.stringify({
    event: 'connected',
    data: { userId, username }
  }));
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ws.server.ts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920240"/>
            <a:ext cx="5788152" cy="4663440"/>
          </a:xfrm>
          <a:prstGeom prst="rect">
            <a:avLst/>
          </a:prstGeom>
          <a:solidFill>
            <a:srgbClr val="0D1B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// ws.clients.ts — broadcast samo igračima u sobi
export function broadcastToRoom(
  roomCode: string,
  event: string,
  data: unknown,
): void {
  const payload = JSON.stringify({ event, data });
  for (const client of clients.values()) {
    if (
      client.roomCode === roomCode &amp;&amp;
      client.readyState === WebSocket.OPEN
    ) {
      client.send(payload);
    }
  }
}
// Tim-izolovani broadcast (game.handler.ts)
const roomClients = getClientsInRoom(roomCode);
const sender = roomClients.find(c =&gt; c.userId === userId);
const senderTeamId = room.players.find(
  p =&gt; p.userId === userId
)?.teamId;
roomClients
  .filter(c =&gt; room.players.find(
    p =&gt; p.userId === c.userId
  )?.teamId === senderTeamId)
  .forEach(c =&gt; c.send(JSON.stringify({
    event: 'new_team_message', data: { ... }
  })));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627632"/>
            <a:ext cx="5788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ws.clients.ts + tim chat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237744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04  PROJEKTNI OBRASCI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Projektni Obrasci — Pregled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ABF"/>
                </a:solidFill>
              </a:rPr>
              <a:t>6 obrazaca primenjena u domenskoj logici backend aplikacije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5577840" cy="144475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B82F6"/>
                </a:solidFill>
              </a:rPr>
              <a:t>01  </a:t>
            </a:r>
            <a:r>
              <a:rPr sz="1400" b="1">
                <a:solidFill>
                  <a:srgbClr val="FFFFFF"/>
                </a:solidFill>
              </a:rPr>
              <a:t>Factory Method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A0AABF"/>
                </a:solidFill>
              </a:rPr>
              <a:t>LocationService bira provider bez poznavanja konkretnih klasa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B82F6"/>
                </a:solidFill>
              </a:rPr>
              <a:t>📁  patterns/factory/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577840" cy="144475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0B981"/>
                </a:solidFill>
              </a:rPr>
              <a:t>02  </a:t>
            </a:r>
            <a:r>
              <a:rPr sz="1400" b="1">
                <a:solidFill>
                  <a:srgbClr val="FFFFFF"/>
                </a:solidFill>
              </a:rPr>
              <a:t>Strategy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A0AABF"/>
                </a:solidFill>
              </a:rPr>
              <a:t>ScoringContext delegira izabranom algoritmu za bodovanje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0B981"/>
                </a:solidFill>
              </a:rPr>
              <a:t>📁  patterns/scoring/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401568"/>
            <a:ext cx="5577840" cy="144475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59E0B"/>
                </a:solidFill>
              </a:rPr>
              <a:t>03  </a:t>
            </a:r>
            <a:r>
              <a:rPr sz="1400" b="1">
                <a:solidFill>
                  <a:srgbClr val="FFFFFF"/>
                </a:solidFill>
              </a:rPr>
              <a:t>Decorator — Scoring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A0AABF"/>
                </a:solidFill>
              </a:rPr>
              <a:t>HintPenaltyDecorator i AccuracyBonusDecorator slažu se u lanac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59E0B"/>
                </a:solidFill>
              </a:rPr>
              <a:t>📁  patterns/scoring/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401568"/>
            <a:ext cx="5577840" cy="144475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3B82F6"/>
                </a:solidFill>
              </a:rPr>
              <a:t>04  </a:t>
            </a:r>
            <a:r>
              <a:rPr sz="1400" b="1">
                <a:solidFill>
                  <a:srgbClr val="FFFFFF"/>
                </a:solidFill>
              </a:rPr>
              <a:t>Decorator — Game Setup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A0AABF"/>
                </a:solidFill>
              </a:rPr>
              <a:t>HintsDecorator, SpectatorDecorator, TeamsDecorator — omotavaju game setup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B82F6"/>
                </a:solidFill>
              </a:rPr>
              <a:t>📁  patterns/game-setup/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974336"/>
            <a:ext cx="5577840" cy="144475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0B981"/>
                </a:solidFill>
              </a:rPr>
              <a:t>05  </a:t>
            </a:r>
            <a:r>
              <a:rPr sz="1400" b="1">
                <a:solidFill>
                  <a:srgbClr val="FFFFFF"/>
                </a:solidFill>
              </a:rPr>
              <a:t>Observer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A0AABF"/>
                </a:solidFill>
              </a:rPr>
              <a:t>GameService notifikuje LeaderboardObserver i BroadcastObserver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0B981"/>
                </a:solidFill>
              </a:rPr>
              <a:t>📁  patterns/observer/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974336"/>
            <a:ext cx="5577840" cy="144475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59E0B"/>
                </a:solidFill>
              </a:rPr>
              <a:t>06  </a:t>
            </a:r>
            <a:r>
              <a:rPr sz="1400" b="1">
                <a:solidFill>
                  <a:srgbClr val="FFFFFF"/>
                </a:solidFill>
              </a:rPr>
              <a:t>Repository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A0AABF"/>
                </a:solidFill>
              </a:rPr>
              <a:t>BaseRepository&lt;T&gt; apstrahuje Mongoose od poslovne logike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59E0B"/>
                </a:solidFill>
              </a:rPr>
              <a:t>📁  database/repositories/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237744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04  FACTORY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Factory Method — Location Providers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ABF"/>
                </a:solidFill>
              </a:rPr>
              <a:t>LocationService ne zna koje klase postoje — Factory enkapsulira kreiranje lokacija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5760720" cy="4023360"/>
          </a:xfrm>
          <a:prstGeom prst="rect">
            <a:avLst/>
          </a:prstGeom>
          <a:solidFill>
            <a:srgbClr val="0D1B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900">
                <a:solidFill>
                  <a:srgbClr val="98FFD0"/>
                </a:solidFill>
                <a:latin typeface="Courier New"/>
              </a:rPr>
              <a:t>«interface»
ILocationProvider
─────────────────────────────
+ getLocation(): Promise&lt;Location&gt;
        ▲ implements
   ─────┴──────────────────────────────
   │                                   │
FamousLocationProvider        WorldLocationProvider
──────────────────────        ─────────────────────
+ getLocation()               + getLocation()
  (39 poznatih lokacija)        (Google SV + MongoDB cache)
LocationProviderFactory              (abstract Creator)
──────────────────────────────────────────────
+ createProvider(mode): ILocationProvider   ← abstract
+ getLocation(mode): Promise&lt;Location&gt;      ← template method
        ▲ extends
GameLocationProviderFactory          (ConcreteCreator)
──────────────────────────────────────────────
- famousProvider: FamousLocationProvider
- worldProvider:  WorldLocationProvider
+ createProvider(mode): ILocationProvider
        │ creates
        ├──► FamousLocationProvider  (mode === 'famous')
        └──► WorldLocationProvider   (mode === 'world')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920240"/>
            <a:ext cx="5559552" cy="4023360"/>
          </a:xfrm>
          <a:prstGeom prst="rect">
            <a:avLst/>
          </a:prstGeom>
          <a:solidFill>
            <a:srgbClr val="0D1B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// Creator (apstraktni) — template method
abstract class LocationProviderFactory {
  abstract createProvider(mode: LocationMode)
    : ILocationProvider;
  // Template method — poziva factory method
  async getLocation(mode: LocationMode) {
    return this.createProvider(mode).getLocation();
  }
}
// ConcreteCreator
@Service()
class GameLocationProviderFactory
  extends LocationProviderFactory {
  createProvider(mode: LocationMode): ILocationProvider {
    switch (mode) {
      case 'famous': return this.famousProvider;
      case 'world':  return this.worldProvider;
      default: throw new Error('Unknown mode');
    }
  }
}
// Klijent — ne zna šta se dešava ispod
@Service()
class LocationService {
  constructor(private factory: GameLocationProviderFactory) {}
  async getOneLocation(mode: LocationMode) {
    return this.factory.getLocation(mode);
    // ↑ ne zna koji provider se poziva
  }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27632"/>
            <a:ext cx="5559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location-provider.factory.ts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035040"/>
            <a:ext cx="11365992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B82F6"/>
                </a:solidFill>
              </a:rPr>
              <a:t>Proširivanje: </a:t>
            </a:r>
            <a:r>
              <a:rPr sz="1200">
                <a:solidFill>
                  <a:srgbClr val="A0AABF"/>
                </a:solidFill>
              </a:rPr>
              <a:t>Dodavanje novog moda (npr. 'country') zahteva samo novi fajl CountryLocationProvider + jednu case liniju. LocationService i GameService se NE MENJAJU.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23774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04 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Strategy — Algoritam Bodovanja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ABF"/>
                </a:solidFill>
              </a:rPr>
              <a:t>GameService bira strategiju pri startu — ScoringContext delegira bez znanja o algoritmu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5212080" cy="2651760"/>
          </a:xfrm>
          <a:prstGeom prst="rect">
            <a:avLst/>
          </a:prstGeom>
          <a:solidFill>
            <a:srgbClr val="0D1B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900">
                <a:solidFill>
                  <a:srgbClr val="98FFD0"/>
                </a:solidFill>
                <a:latin typeface="Courier New"/>
              </a:rPr>
              <a:t>«interface»
ScoringStrategy
──────────────────────────────────────
+ calculate(input: ScoringInput): number
        ▲ implements
   ─────┴──────────────────────────────────────
   │                                           │
DistanceScoringStrategy           TimeBonusScoringStrategy
───────────────────────           ────────────────────────
Standard mod                      Elimination mod
score = MAX*(1-d/MAX)²            score = DistScore + TimeBonus
ScoringContext                          (Context)
────────────────────────────────────────
- strategy: ScoringStrategy
+ setStrategy(s): void
+ calculate(input): number → delegira strategiji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0" y="1920240"/>
            <a:ext cx="5943600" cy="2651760"/>
          </a:xfrm>
          <a:prstGeom prst="rect">
            <a:avLst/>
          </a:prstGeom>
          <a:solidFill>
            <a:srgbClr val="0D1B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// GameService.startGame() — klijent bira strategiju
const scoringContext = new ScoringContext();
scoringContext.setStrategy(
  gameMode === 'elimination'
    ? new TimeBonusScoringStrategy()
    : new DistanceScoringStrategy()
);
scoringContexts.set(roomCode, scoringContext);
// GameService.submitGuess() — context delegira
const context = scoringContexts.get(roomCode);
const roundScore = context.calculate({
  distanceKm,
  timeTakenSeconds,
  roundDurationSeconds: room.roundDurationSeconds,
  hintsUsed,
}); // ne zna koji algoritam se izvršava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62763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game.service.ts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709160"/>
            <a:ext cx="11365992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0B981"/>
                </a:solidFill>
              </a:rPr>
              <a:t>Algoritmi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</a:rPr>
              <a:t>▸  DistanceScoringStrategy  (Standard)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A0AABF"/>
                </a:solidFill>
              </a:rPr>
              <a:t>score = MAX_SCORE × (1 − distanceKm / MAX_DISTANCE)²
    Kvadratni pad — igrač koji pogodi na 100km dobija znatno više od onog koji pogodi na 1000km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</a:rPr>
              <a:t>▸  TimeBonusScoringStrategy  (Elimination)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A0AABF"/>
                </a:solidFill>
              </a:rPr>
              <a:t>score = DistanceScore + MAX_TIME_BONUS × (1 − timeTaken / roundDuration)
    Isti guess za 10s donosi više poena nego za 55s — ubrzava donošenje odluka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23774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04  DECORATOR —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Decorator — Dinamičko Nadograđivanje Skora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ABF"/>
                </a:solidFill>
              </a:rPr>
              <a:t>Strategy bira algoritam — Decorator dodaje ponašanje povrh njega. Oba obrasca u istom domenu.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11365992" cy="2286000"/>
          </a:xfrm>
          <a:prstGeom prst="rect">
            <a:avLst/>
          </a:prstGeom>
          <a:solidFill>
            <a:srgbClr val="0D1B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900">
                <a:solidFill>
                  <a:srgbClr val="98FFD0"/>
                </a:solidFill>
                <a:latin typeface="Courier New"/>
              </a:rPr>
              <a:t>«interface» ScoringStrategy
+ calculate(input): number
        ▲
        │ implements
   ─────┴──────────────────────────────────────────────────────
   │                         │                                  │
DistanceScoringStrategy  TimeBonusScoringStrategy  ScoringDecorator (abstract)
                                                   - strategy: ScoringStrategy
                                                   + calculate() → prosleđuje
                                                           ▲
                                                           │ extends
                                              ─────────────┴────────────
                                              │                         │
                                    HintPenaltyDecorator   AccuracyBonusDecorator
                                    penalty = 0.85^hints   if dist &lt; 100km: *1.20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343400"/>
            <a:ext cx="5212080" cy="2377440"/>
          </a:xfrm>
          <a:prstGeom prst="rect">
            <a:avLst/>
          </a:prstGeom>
          <a:solidFill>
            <a:srgbClr val="0D1B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// HintPenaltyDecorator — -15% po hintu
const HINT_PENALTY = 0.15;
export class HintPenaltyDecorator
  extends ScoringDecorator {
  calculate(input: ScoringInput): number {
    const base = this.strategy.calculate(input);
    const hints = input.hintsUsed ?? 0;
    if (hints === 0) return base;
    // 1 hint=85%, 2 hints=72.25%, ...
    const multiplier = Math.pow(
      1 - HINT_PENALTY, hints
    );
    return Math.round(base * multiplier);
  }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5079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hint-penalty.decorator.ts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6440" y="4343400"/>
            <a:ext cx="5943600" cy="2377440"/>
          </a:xfrm>
          <a:prstGeom prst="rect">
            <a:avLst/>
          </a:prstGeom>
          <a:solidFill>
            <a:srgbClr val="0D1B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// GameService.startGame() — slaganje dekoratora
let finalStrategy: ScoringStrategy =
  gameMode === 'elimination'
    ? new TimeBonusScoringStrategy()
    : new DistanceScoringStrategy();
// Kondicionalno: kazna za hintove
if (room.hintsEnabled) {
  finalStrategy = new HintPenaltyDecorator(
    finalStrategy
  );
}
// Uvek: bonus za preciznost
finalStrategy = new AccuracyBonusDecorator(
  finalStrategy
);
scoringContext.setStrategy(finalStrategy);
// AccuracyBonus → HintPenalty →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405079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game.service.ts — slaganje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237744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04  DECORATOR — GAME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Decorator — Konfiguracija Igre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ABF"/>
                </a:solidFill>
              </a:rPr>
              <a:t>Svaki feature (hints, spectators, teams) je zaseban omotač — nema eksplozije klasa ni if/else logike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5577840" cy="2651760"/>
          </a:xfrm>
          <a:prstGeom prst="rect">
            <a:avLst/>
          </a:prstGeom>
          <a:solidFill>
            <a:srgbClr val="0D1B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900">
                <a:solidFill>
                  <a:srgbClr val="98FFD0"/>
                </a:solidFill>
                <a:latin typeface="Courier New"/>
              </a:rPr>
              <a:t>         «interface»
          IGameSetup
    ┌──────────────────────┐
    │ describe(): string   │
    │ buildConfig():       │
    │   GameSettings       │
    └────────┬─────────────┘
             │ implements
    ┌────────┴────────────────────────────────────────────┐
    │                                              ┌──────┴──────────────┐
    ▼                                              │  GameSetupDecorator │
StandardGameSetup                                 │  (abstract)         │
EliminationGameSetup                              │  - game: IGameSetup │
                                                  └──────┬──────────────┘
                                                         │ extends
                                          ┌──────────────┼──────────────┐
                                          ▼              ▼              ▼
                                    HintsDecorator SpectatorDec.  TeamsDecorator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920240"/>
            <a:ext cx="5696712" cy="2651760"/>
          </a:xfrm>
          <a:prstGeom prst="rect">
            <a:avLst/>
          </a:prstGeom>
          <a:solidFill>
            <a:srgbClr val="0D1B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// RoomService.createRoom() — slaganje dekoratora
let gameSetup: IGameSetup =
  gameMode === 'elimination'
    ? new EliminationGameSetup()
    : new StandardGameSetup();
if (hintsEnabled)      gameSetup = new HintsDecorator(gameSetup);
if (spectatorsAllowed) gameSetup = new SpectatorDecorator(gameSetup);
if (teamsEnabled)      gameSetup = new TeamsDecorator(gameSetup, teamSize);
const config = gameSetup.buildConfig();
// config = { gameMode, hintsEnabled, teamsEnabled, ... }
gameSetup.describe();
// → "Elimination + Hints + Teams (2v2)"
// TeamsDecorator
export class TeamsDecorator extends GameSetupDecorator {
  constructor(game: IGameSetup, private teamSize = 2) {
    super(game);
  }
  describe() {
    return `${this.game.describe()} + Teams (${this.teamSize}v${this.teamSize})`;
  }
  buildConfig(): GameSettings {
    return { ...this.game.buildConfig(), teamsEnabled: true, teamSize: this.teamSize };
  }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627632"/>
            <a:ext cx="5696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room.service.ts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709160"/>
            <a:ext cx="11365992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B82F6"/>
                </a:solidFill>
              </a:rPr>
              <a:t>Primeri kombinacija (bez eksplozije klasa)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A0AABF"/>
                </a:solidFill>
                <a:latin typeface="Courier New"/>
              </a:rPr>
              <a:t>▸  Standard                             →  { gameMode: 'standard', hintsEnabled: false, teamsEnabled: false }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A0AABF"/>
                </a:solidFill>
                <a:latin typeface="Courier New"/>
              </a:rPr>
              <a:t>▸  Standard + Hints                     →  { gameMode: 'standard', hintsEnabled: true,  teamsEnabled: false }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A0AABF"/>
                </a:solidFill>
                <a:latin typeface="Courier New"/>
              </a:rPr>
              <a:t>▸  Elimination + Hints + Teams 2v2      →  { gameMode: 'elimination', hintsEnabled: true, teamsEnabled: true, teamSize: 2 }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A0AABF"/>
                </a:solidFill>
                <a:latin typeface="Courier New"/>
              </a:rPr>
              <a:t>▸  Standard + Spectators + Teams        →  { gameMode: 'standard', spectatorsAllowed: true, teamsEnabled: true 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23774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04  OBSERVER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Observer — Game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ABF"/>
                </a:solidFill>
              </a:rPr>
              <a:t>GameService samo objavi kraj igre — observeri reaguju nezavisno, bez znanja jedni o drugima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11365992" cy="960120"/>
          </a:xfrm>
          <a:prstGeom prst="rect">
            <a:avLst/>
          </a:prstGeom>
          <a:solidFill>
            <a:srgbClr val="2A1A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59E0B"/>
                </a:solidFill>
              </a:rPr>
              <a:t>Problem — Stari kod (3 odgovornosti u jednoj metodi):  </a:t>
            </a:r>
            <a:r>
              <a:rPr sz="1100">
                <a:solidFill>
                  <a:srgbClr val="A0AABF"/>
                </a:solidFill>
              </a:rPr>
              <a:t>triggerGameOver() je zvao userRepository.updateScore() + broadcastToRoom() + scoringContexts.delete()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926080"/>
            <a:ext cx="5486400" cy="3703320"/>
          </a:xfrm>
          <a:prstGeom prst="rect">
            <a:avLst/>
          </a:prstGeom>
          <a:solidFill>
            <a:srgbClr val="0D1B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900">
                <a:solidFill>
                  <a:srgbClr val="98FFD0"/>
                </a:solidFill>
                <a:latin typeface="Courier New"/>
              </a:rPr>
              <a:t>      «interface»
      GameObserver
  ┌────────────────────────┐
  │ onGameOver(event):     │
  │   Promise&lt;void&gt;        │
  └──────────┬─────────────┘
             │ implements
  ┌──────────┴────────────┬────────────────────┐
  ▼                       ▼
LeaderboardObserver    BroadcastObserver
ažurira totalScore     šalje 'game_over' WS
i gamesPlayed          event svim klijentima
  GameEventSubject  (apstraktni Subject)
  ┌──────────────────────────────────────┐
  │ - observers: GameObserver[]          │
  │ + registerObserver(obs)              │
  │ + unregisterObserver(obs)            │
  │ # notifyGameOver(event): Promise     │
  └───────────────┬──────────────────────┘
                  │ extends
           GameService
      (registruje observere u konstruktoru)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926080"/>
            <a:ext cx="5742432" cy="3703320"/>
          </a:xfrm>
          <a:prstGeom prst="rect">
            <a:avLst/>
          </a:prstGeom>
          <a:solidFill>
            <a:srgbClr val="0D1B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A8D8FF"/>
                </a:solidFill>
                <a:latin typeface="Courier New"/>
              </a:rPr>
              <a:t>// GameService — registracija i notifikacija
@Service()
export class GameService extends GameEventSubject {
  constructor(
    private roomRepository: RoomRepository,
    private locationService: LocationService,
    leaderboardObserver: LeaderboardObserver,
    broadcastObserver: BroadcastObserver,
  ) {
    super();
    this.registerObserver(leaderboardObserver);
    this.registerObserver(broadcastObserver);
  }
  private async triggerGameOver(
    roomId: string, roomCode: string
  ) {
    scoringContexts.delete(roomCode);
    await this.roomRepository.setStatus(
      roomId, 'game_over'
    );
    const finalRoom = await this.roomRepository
      .findByCode(roomCode);
    // GameService ne zna ko reaguje
    await this.notifyGameOver({
      roomId, roomCode, players: finalRoom.players
    });
  }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633472"/>
            <a:ext cx="5742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game.service.ts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237744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ZAKLJUČAK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Rezime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80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ABF"/>
                </a:solidFill>
              </a:rPr>
              <a:t>Open GeoGuessr — sve komponente zajedno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557784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B82F6"/>
                </a:solidFill>
              </a:rPr>
              <a:t>Aplikacija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ABF"/>
                </a:solidFill>
              </a:rPr>
              <a:t>▸  Multiplayer geografska igra u realnom vremenu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ABF"/>
                </a:solidFill>
              </a:rPr>
              <a:t>▸  Lobby → Countdown → Runde → Rezultati → Game Over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ABF"/>
                </a:solidFill>
              </a:rPr>
              <a:t>▸  Standard mod, Elimination mod, 2v2 Timovi, Hintovi, Spektatori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0240"/>
            <a:ext cx="64008" cy="2148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920240"/>
            <a:ext cx="557784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0B981"/>
                </a:solidFill>
              </a:rPr>
              <a:t>Perzistencija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ABF"/>
                </a:solidFill>
              </a:rPr>
              <a:t>▸  MongoDB + Mongoose ODM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ABF"/>
                </a:solidFill>
              </a:rPr>
              <a:t>▸  Repository Pattern — BaseRepository&lt;T&gt; apstrahuje ORM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ABF"/>
                </a:solidFill>
              </a:rPr>
              <a:t>▸  3 kolekcije: Users, Rooms, CachedLocations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64008" cy="2148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206240"/>
            <a:ext cx="557784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9E0B"/>
                </a:solidFill>
              </a:rPr>
              <a:t>Real-time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ABF"/>
                </a:solidFill>
              </a:rPr>
              <a:t>▸  WebSocket (ws library) — persistentna dvosmerna veza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ABF"/>
                </a:solidFill>
              </a:rPr>
              <a:t>▸  JWT autentifikacija na konekciji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ABF"/>
                </a:solidFill>
              </a:rPr>
              <a:t>▸  Broadcast, tim-izolovani chat, live pin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206240"/>
            <a:ext cx="64008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4206240"/>
            <a:ext cx="557784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B82F6"/>
                </a:solidFill>
              </a:rPr>
              <a:t>Obrasci (6)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ABF"/>
                </a:solidFill>
              </a:rPr>
              <a:t>▸  Factory Method · Strategy · Decorator (×2) · Observer · Repository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ABF"/>
                </a:solidFill>
              </a:rPr>
              <a:t>▸  Otvoreni za proširenje, zatvoreni za izmenu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ABF"/>
                </a:solidFill>
              </a:rPr>
              <a:t>▸  Svaki obrazac rešava konkretan problem u kodu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206240"/>
            <a:ext cx="64008" cy="2148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