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0213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0426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0639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0852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51065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41278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31492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21705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11918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2131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2344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2557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72770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2984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3197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3410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3623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23836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14049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4262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4476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84689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4902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5115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55328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45541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35754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5968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6181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06394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96607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86820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77033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67246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57460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47673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737886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028099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318312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608525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898738" y="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90213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0426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0639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60852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51065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741278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31492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321705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11918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02131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92344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82557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72770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62984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53197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43410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33623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23836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4049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04262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4476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84689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674902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965115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255328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5541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835754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25968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416181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706394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996607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86820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77033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67246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157460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447673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737886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1028099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318312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608525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898738" y="30371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90213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80426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70639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60852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451065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741278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031492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321705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611918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902131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192344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482557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772770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062984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53197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643410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933623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223836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514049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804262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094476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384689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674902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965115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255328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545541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835754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125968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416181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706394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996607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286820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577033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67246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157460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447673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737886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028099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318312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608525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898738" y="60742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0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90213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80426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0639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60852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451065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741278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031492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321705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611918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902131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192344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482557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772770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062984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353197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643410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933623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223836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14049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04262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094476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384689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674902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965115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255328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545541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835754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125968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416181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706394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96607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286820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577033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867246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157460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447673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737886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1028099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1318312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1608525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1898738" y="91113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0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290213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580426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870639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60852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451065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741278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031492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321705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2611918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2902131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192344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482557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772770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062984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353197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643410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933623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223836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514049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804262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094476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384689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674902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965115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255328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545541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835754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125968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416181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706394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996607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286820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577033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867246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0157460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0447673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0737886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1028099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1318312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1608525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1898738" y="121484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0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290213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80426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70639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160852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451065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741278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2031492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2321705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2611918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2902131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3192344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3482557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3772770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062984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353197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643410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933623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223836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14049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804262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6094476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384689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6674902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6965115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255328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545541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7835754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8125968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8416181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706394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996607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286820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77033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867246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157460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0447673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737886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1028099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1318312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1608525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1898738" y="151855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0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290213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580426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870639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160852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451065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741278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2031492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2321705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2611918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2902131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3192344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3482557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3772770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4062984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353197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4643410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4933623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5223836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5514049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804262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094476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6384689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6674902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965115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7255328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7545541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7835754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8125968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8416181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8706394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8996607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286820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577033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7246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0157460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0447673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737886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1028099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1318312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1608525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1898738" y="182226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0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90213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580426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870639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160852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451065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741278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2031492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2321705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2611918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2902131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3192344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3482557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772770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4062984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4353197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4643410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4933623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223836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5514049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5804262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6094476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6384689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6674902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6965115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7255328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7545541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7835754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8125968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8416181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8706394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8996607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9286820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577033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9867246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157460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447673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737886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1028099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1318312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1608525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1898738" y="2125980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290213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580426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870639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160852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451065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741278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2031492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2321705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2611918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2902131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3192344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3482557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3772770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4062984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4353197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4643410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4933623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5223836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5514049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5804262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6094476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6384689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6674902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6965115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7255328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7545541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7835754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8125968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8416181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8706394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8996607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9286820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9577033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9867246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157460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447673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737886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1028099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1318312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1608525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1898738" y="2429691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0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290213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580426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870639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160852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451065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741278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031492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321705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2611918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2902131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3192344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3482557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3772770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4062984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4353197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4643410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4933623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5223836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5514049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5804262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6094476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6384689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6674902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6965115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7255328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7545541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7835754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8125968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8416181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8706394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8996607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9286820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9577033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9867246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157460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447673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737886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1028099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1318312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1608525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1898738" y="2733402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0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290213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580426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870639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160852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451065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741278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2031492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2321705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2611918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2902131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3192344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3482557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3772770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4062984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4353197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4643410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4933623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5223836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5514049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5804262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6094476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6384689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6674902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6965115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7255328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7545541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7835754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8125968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8416181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8706394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8996607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9286820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9577033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9867246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0157460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0447673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0737886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028099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318312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608525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898738" y="3037114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0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290213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580426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870639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60852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451065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741278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2031492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2321705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2611918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2902131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3192344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3482557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3772770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4062984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4353197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4643410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4933623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5223836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5514049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5804262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6094476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6384689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6674902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6965115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7255328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7545541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7835754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8125968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8416181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8706394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8996607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9286820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9577033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9867246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10157460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10447673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10737886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11028099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1318312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11608525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11898738" y="3340825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0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290213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580426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870639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1160852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1451065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1741278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2031492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2321705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2611918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2902131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3192344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3482557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3772770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4062984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4353197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4643410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4933623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5223836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5514049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5804262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6094476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6384689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6674902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6965115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7255328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7545541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7835754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8125968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8416181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8706394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8996607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9286820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9577033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9867246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10157460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447673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10737886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11028099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11318312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11608525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11898738" y="3644537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0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290213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580426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870639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1160852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1451065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1741278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2031492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2321705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2611918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2902131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3192344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3482557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3772770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4062984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4353197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4643410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4933623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5223836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5514049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5804262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6094476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6384689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6674902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6965115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7255328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7545541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7835754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8125968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8416181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8706394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8996607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9286820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9577033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9867246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10157460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10447673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10737886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11028099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11318312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11608525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11898738" y="3948248"/>
            <a:ext cx="54864" cy="54864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0" y="3840480"/>
            <a:ext cx="12188952" cy="1005840"/>
          </a:xfrm>
          <a:prstGeom prst="rect">
            <a:avLst/>
          </a:prstGeom>
          <a:solidFill>
            <a:srgbClr val="09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548640" y="13716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5669280" y="1234440"/>
            <a:ext cx="822960" cy="82296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5916168" y="1481328"/>
            <a:ext cx="329184" cy="329184"/>
          </a:xfrm>
          <a:prstGeom prst="ellipse">
            <a:avLst/>
          </a:prstGeom>
          <a:solidFill>
            <a:srgbClr val="09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548640" y="224028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EEF0F8"/>
                </a:solidFill>
                <a:latin typeface="Space Grotesk"/>
              </a:rPr>
              <a:t>Open GeoGuessr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548640" y="342900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A85B0"/>
                </a:solidFill>
                <a:latin typeface="DM Sans"/>
              </a:rPr>
              <a:t>Multiplayer geografska igra u realnom vremenu</a:t>
            </a:r>
          </a:p>
        </p:txBody>
      </p:sp>
      <p:sp>
        <p:nvSpPr>
          <p:cNvPr id="596" name="Rectangle 595"/>
          <p:cNvSpPr/>
          <p:nvPr/>
        </p:nvSpPr>
        <p:spPr>
          <a:xfrm>
            <a:off x="4114800" y="4114800"/>
            <a:ext cx="395935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3200400" y="4343400"/>
            <a:ext cx="5788152" cy="2148840"/>
          </a:xfrm>
          <a:prstGeom prst="rect">
            <a:avLst/>
          </a:prstGeom>
          <a:solidFill>
            <a:srgbClr val="141929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3291840" y="4498848"/>
            <a:ext cx="56052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EF0F8"/>
                </a:solidFill>
                <a:latin typeface="Space Grotesk"/>
              </a:rPr>
              <a:t>Lazar Stoiljković</a:t>
            </a:r>
          </a:p>
          <a:p>
            <a:pPr algn="ctr">
              <a:spcBef>
                <a:spcPts val="1000"/>
              </a:spcBef>
            </a:pPr>
            <a:r>
              <a:rPr sz="1300" b="0">
                <a:solidFill>
                  <a:srgbClr val="7A85B0"/>
                </a:solidFill>
                <a:latin typeface="DM Sans"/>
              </a:rPr>
              <a:t>Broj indeksa: 16381</a:t>
            </a:r>
          </a:p>
          <a:p>
            <a:pPr algn="ctr"/>
            <a:r>
              <a:rPr sz="800" b="0">
                <a:solidFill>
                  <a:srgbClr val="7A85B0"/>
                </a:solidFill>
                <a:latin typeface="DM Sans"/>
              </a:rPr>
              <a:t/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AABFF"/>
                </a:solidFill>
                <a:latin typeface="DM Sans"/>
              </a:rPr>
              <a:t>Arhitektura i projektovanje softvera</a:t>
            </a:r>
          </a:p>
        </p:txBody>
      </p:sp>
      <p:sp>
        <p:nvSpPr>
          <p:cNvPr id="599" name="Rectangle 598"/>
          <p:cNvSpPr/>
          <p:nvPr/>
        </p:nvSpPr>
        <p:spPr>
          <a:xfrm>
            <a:off x="548640" y="667512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PREGLED APLIKACIJE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Šta je Open GeoGuessr?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658368"/>
          </a:xfrm>
          <a:prstGeom prst="rect">
            <a:avLst/>
          </a:prstGeom>
          <a:solidFill>
            <a:srgbClr val="141929"/>
          </a:solidFill>
          <a:ln w="12700">
            <a:solidFill>
              <a:srgbClr val="1E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7A85B0"/>
                </a:solidFill>
                <a:latin typeface="DM Sans"/>
              </a:rPr>
              <a:t>Open GeoGuessr je open-source multiplayer geografska igra u realnom vremenu. Igrači gledaju fotografiju nepoznate lokacije putem Google Street View i pokušavaju da pogode tačno mesto na interaktivnoj mapi. Što bliže lokaciji — to više poena.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40"/>
                </a:solidFill>
                <a:latin typeface="Space Grotesk"/>
              </a:rPr>
              <a:t>Tok igre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33472"/>
            <a:ext cx="1711452" cy="1481328"/>
          </a:xfrm>
          <a:prstGeom prst="rect">
            <a:avLst/>
          </a:prstGeom>
          <a:solidFill>
            <a:srgbClr val="1A2035"/>
          </a:solidFill>
          <a:ln w="1905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24912"/>
            <a:ext cx="274320" cy="2743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0B14"/>
                </a:solidFill>
                <a:latin typeface="Space Grotes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12542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27248"/>
            <a:ext cx="15468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pace Grotesk"/>
              </a:rPr>
              <a:t>Lobby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38144"/>
            <a:ext cx="1546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5B0"/>
                </a:solidFill>
                <a:latin typeface="DM Sans"/>
              </a:rPr>
              <a:t>Host kreira sobu,
igrači se pridružuju
Room Code-om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9236" y="3191256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C040"/>
                </a:solidFill>
                <a:latin typeface="Space Grotesk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4684" y="2633472"/>
            <a:ext cx="1711452" cy="1481328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6124" y="2724912"/>
            <a:ext cx="274320" cy="2743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7A85B0"/>
                </a:solidFill>
                <a:latin typeface="Space Grotes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6164" y="2724912"/>
            <a:ext cx="12542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6124" y="3127248"/>
            <a:ext cx="15468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0F8"/>
                </a:solidFill>
                <a:latin typeface="Space Grotesk"/>
              </a:rPr>
              <a:t>Countdown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6124" y="3438144"/>
            <a:ext cx="1546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5B0"/>
                </a:solidFill>
                <a:latin typeface="DM Sans"/>
              </a:rPr>
              <a:t>5-sekundi odbrojavanje
pre svake runde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5280" y="3191256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C040"/>
                </a:solidFill>
                <a:latin typeface="Space Grotesk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0728" y="2633472"/>
            <a:ext cx="1711452" cy="1481328"/>
          </a:xfrm>
          <a:prstGeom prst="rect">
            <a:avLst/>
          </a:prstGeom>
          <a:solidFill>
            <a:srgbClr val="1A2035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92168" y="2724912"/>
            <a:ext cx="274320" cy="2743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7A85B0"/>
                </a:solidFill>
                <a:latin typeface="Space Grotesk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2208" y="2724912"/>
            <a:ext cx="12542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2168" y="3127248"/>
            <a:ext cx="15468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0F8"/>
                </a:solidFill>
                <a:latin typeface="Space Grotesk"/>
              </a:rPr>
              <a:t>Street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2168" y="3438144"/>
            <a:ext cx="1546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5B0"/>
                </a:solidFill>
                <a:latin typeface="DM Sans"/>
              </a:rPr>
              <a:t>Igrači razgledaju
lokaciju i postavljaju
pin na mapu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1324" y="3191256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C040"/>
                </a:solidFill>
                <a:latin typeface="Space Grotesk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6772" y="2633472"/>
            <a:ext cx="1711452" cy="1481328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8212" y="2724912"/>
            <a:ext cx="274320" cy="2743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7A85B0"/>
                </a:solidFill>
                <a:latin typeface="Space Grotesk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8252" y="2724912"/>
            <a:ext cx="12542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8212" y="3127248"/>
            <a:ext cx="15468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0F8"/>
                </a:solidFill>
                <a:latin typeface="Space Grotesk"/>
              </a:rPr>
              <a:t>Guess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8212" y="3438144"/>
            <a:ext cx="1546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5B0"/>
                </a:solidFill>
                <a:latin typeface="DM Sans"/>
              </a:rPr>
              <a:t>Interaktivna mapa,
klik za postavljanje
pina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7368" y="3191256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C040"/>
                </a:solidFill>
                <a:latin typeface="Space Grotesk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52816" y="2633472"/>
            <a:ext cx="1711452" cy="1481328"/>
          </a:xfrm>
          <a:prstGeom prst="rect">
            <a:avLst/>
          </a:prstGeom>
          <a:solidFill>
            <a:srgbClr val="1A2035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44256" y="2724912"/>
            <a:ext cx="274320" cy="2743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7A85B0"/>
                </a:solidFill>
                <a:latin typeface="Space Grotesk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4296" y="2724912"/>
            <a:ext cx="12542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4256" y="3127248"/>
            <a:ext cx="15468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0F8"/>
                </a:solidFill>
                <a:latin typeface="Space Grotesk"/>
              </a:rPr>
              <a:t>Rezultati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4256" y="3438144"/>
            <a:ext cx="1546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5B0"/>
                </a:solidFill>
                <a:latin typeface="DM Sans"/>
              </a:rPr>
              <a:t>Mapa sa gessovima
svih igrača,
skorovi po rundi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3412" y="3191256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C040"/>
                </a:solidFill>
                <a:latin typeface="Space Grotesk"/>
              </a:rPr>
              <a:t>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8860" y="2633472"/>
            <a:ext cx="1711452" cy="1481328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20300" y="2724912"/>
            <a:ext cx="274320" cy="2743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7A85B0"/>
                </a:solidFill>
                <a:latin typeface="Space Grotesk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40340" y="2724912"/>
            <a:ext cx="12542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20300" y="3127248"/>
            <a:ext cx="15468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0F8"/>
                </a:solidFill>
                <a:latin typeface="Space Grotesk"/>
              </a:rPr>
              <a:t>Game Over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20300" y="3438144"/>
            <a:ext cx="15468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5B0"/>
                </a:solidFill>
                <a:latin typeface="DM Sans"/>
              </a:rPr>
              <a:t>Pobednik, porijum,
detaljni skor
po rundama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702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40"/>
                </a:solidFill>
                <a:latin typeface="Space Grotesk"/>
              </a:rPr>
              <a:t>Modovi igre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663440"/>
            <a:ext cx="2649474" cy="1764792"/>
          </a:xfrm>
          <a:prstGeom prst="rect">
            <a:avLst/>
          </a:prstGeom>
          <a:solidFill>
            <a:srgbClr val="141929"/>
          </a:solidFill>
          <a:ln w="9525">
            <a:solidFill>
              <a:srgbClr val="5A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663440"/>
            <a:ext cx="50292" cy="1764792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4800600"/>
            <a:ext cx="251231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ABFF"/>
                </a:solidFill>
                <a:latin typeface="Space Grotesk"/>
              </a:rPr>
              <a:t>🎮  Standard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138928"/>
            <a:ext cx="251231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5B0"/>
                </a:solidFill>
                <a:latin typeface="DM Sans"/>
              </a:rPr>
              <a:t>Svi igraju N rundi.
Pobjeđuje najveći
ukupni skor.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62706" y="4663440"/>
            <a:ext cx="2649474" cy="1764792"/>
          </a:xfrm>
          <a:prstGeom prst="rect">
            <a:avLst/>
          </a:prstGeom>
          <a:solidFill>
            <a:srgbClr val="141929"/>
          </a:solidFill>
          <a:ln w="9525">
            <a:solidFill>
              <a:srgbClr val="F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62706" y="4663440"/>
            <a:ext cx="50292" cy="1764792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2434" y="4800600"/>
            <a:ext cx="251231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F5F"/>
                </a:solidFill>
                <a:latin typeface="Space Grotesk"/>
              </a:rPr>
              <a:t>⚡  Elimination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2434" y="5138928"/>
            <a:ext cx="251231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5B0"/>
                </a:solidFill>
                <a:latin typeface="DM Sans"/>
              </a:rPr>
              <a:t>Najgori igrač ispada
posle svake runde.
Pobjeđuje poslednji.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6772" y="4663440"/>
            <a:ext cx="2649474" cy="1764792"/>
          </a:xfrm>
          <a:prstGeom prst="rect">
            <a:avLst/>
          </a:prstGeom>
          <a:solidFill>
            <a:srgbClr val="141929"/>
          </a:solidFill>
          <a:ln w="9525">
            <a:solidFill>
              <a:srgbClr val="4CD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76772" y="4663440"/>
            <a:ext cx="50292" cy="1764792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6500" y="4800600"/>
            <a:ext cx="251231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DD8A"/>
                </a:solidFill>
                <a:latin typeface="Space Grotesk"/>
              </a:rPr>
              <a:t>👥  Teams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6500" y="5138928"/>
            <a:ext cx="251231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5B0"/>
                </a:solidFill>
                <a:latin typeface="DM Sans"/>
              </a:rPr>
              <a:t>2v2 timovi. Tim chat,
tim skor, grupni
resultati.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90838" y="4663440"/>
            <a:ext cx="2649474" cy="1764792"/>
          </a:xfrm>
          <a:prstGeom prst="rect">
            <a:avLst/>
          </a:prstGeom>
          <a:solidFill>
            <a:srgbClr val="141929"/>
          </a:solidFill>
          <a:ln w="9525">
            <a:solidFill>
              <a:srgbClr val="7A8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90838" y="4663440"/>
            <a:ext cx="50292" cy="1764792"/>
          </a:xfrm>
          <a:prstGeom prst="rect">
            <a:avLst/>
          </a:prstGeom>
          <a:solidFill>
            <a:srgbClr val="7A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00566" y="4800600"/>
            <a:ext cx="251231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85B0"/>
                </a:solidFill>
                <a:latin typeface="Space Grotesk"/>
              </a:rPr>
              <a:t>👁️  Spectator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00566" y="5138928"/>
            <a:ext cx="251231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5B0"/>
                </a:solidFill>
                <a:latin typeface="DM Sans"/>
              </a:rPr>
              <a:t>Gledaoci prate
igru u realnom
vremenu.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EKRANI APLIKACIJE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0F8"/>
                </a:solidFill>
                <a:latin typeface="Space Grotesk"/>
              </a:rPr>
              <a:t>Lobby — Čekaonica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498079" cy="5120640"/>
          </a:xfrm>
          <a:prstGeom prst="rect">
            <a:avLst/>
          </a:prstGeom>
          <a:solidFill>
            <a:srgbClr val="1A2035"/>
          </a:solidFill>
          <a:ln w="1524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6732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3350"/>
                </a:solidFill>
                <a:latin typeface="Space Mono"/>
              </a:rPr>
              <a:t>[ screenshot ]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371600"/>
            <a:ext cx="3364992" cy="1197864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20" y="1371600"/>
            <a:ext cx="50292" cy="119786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4904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499616"/>
            <a:ext cx="2770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  <a:latin typeface="Space Grotesk"/>
              </a:rPr>
              <a:t>Room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94192" y="1883664"/>
            <a:ext cx="315468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956816"/>
            <a:ext cx="31638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Host kreira sobu i dobija unikalani 6-slovni Room Code (npr. SNMWSB). Igrači unose kod i odmah ulaze u čekaonicu.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679192"/>
            <a:ext cx="3364992" cy="1197864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679192"/>
            <a:ext cx="50292" cy="1197864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798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807208"/>
            <a:ext cx="2770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ABFF"/>
                </a:solidFill>
                <a:latin typeface="Space Grotesk"/>
              </a:rPr>
              <a:t>Igrači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94192" y="3191256"/>
            <a:ext cx="315468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3264408"/>
            <a:ext cx="31638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Lista svih igrača u sobi se ažurira u realnom vremenu. Host nosi oznaku HOST. Igrač koji se diskonektuje prikazuje se zasivljeno.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3986784"/>
            <a:ext cx="3364992" cy="1197864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3986784"/>
            <a:ext cx="50292" cy="1197864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41056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114800"/>
            <a:ext cx="2770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Podešavanja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94192" y="4498848"/>
            <a:ext cx="3154680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4572000"/>
            <a:ext cx="31638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Host bira game mode, broj rundi (1–10), trajanje runde i tip lokacija (Famous / Random World). Svi igrači vide podešavanja pre starta.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5294376"/>
            <a:ext cx="3364992" cy="1197864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5294376"/>
            <a:ext cx="50292" cy="119786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54132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▶️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5422392"/>
            <a:ext cx="2770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  <a:latin typeface="Space Grotesk"/>
              </a:rPr>
              <a:t>Start Game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94192" y="5806440"/>
            <a:ext cx="315468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5879592"/>
            <a:ext cx="31638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Samo host može pokrenuti igru. Nakon klika kreće 5-sekundni countdown koji vide svi igrači, a zatim počinje prva runda.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EKRANI APLIKACIJE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0F8"/>
                </a:solidFill>
                <a:latin typeface="Space Grotesk"/>
              </a:rPr>
              <a:t>Gameplay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3611880"/>
          </a:xfrm>
          <a:prstGeom prst="rect">
            <a:avLst/>
          </a:prstGeom>
          <a:solidFill>
            <a:srgbClr val="1A2035"/>
          </a:solidFill>
          <a:ln w="1524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129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3350"/>
                </a:solidFill>
                <a:latin typeface="Space Mono"/>
              </a:rPr>
              <a:t>[ screenshot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93208"/>
            <a:ext cx="5303520" cy="132588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093208"/>
            <a:ext cx="50292" cy="132588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2120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221224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  <a:latin typeface="Space Grotesk"/>
              </a:rPr>
              <a:t>Razgledanje lokacije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5614415"/>
            <a:ext cx="5093208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687568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Igrač dobija 360° fotografiju nepoznate lokacije putem Google Street View Može da se kreće i rotira. Opcioni hintovi otkrivaju kontinent ili državu lokacije.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5303520" cy="3611880"/>
          </a:xfrm>
          <a:prstGeom prst="rect">
            <a:avLst/>
          </a:prstGeom>
          <a:solidFill>
            <a:srgbClr val="1A2035"/>
          </a:solidFill>
          <a:ln w="1524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0129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3350"/>
                </a:solidFill>
                <a:latin typeface="Space Mono"/>
              </a:rPr>
              <a:t>[ screenshot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5093208"/>
            <a:ext cx="5303520" cy="132588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5093208"/>
            <a:ext cx="50292" cy="132588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52120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221224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ABFF"/>
                </a:solidFill>
                <a:latin typeface="Space Grotesk"/>
              </a:rPr>
              <a:t>Postavljanje pretpostavke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5614415"/>
            <a:ext cx="5093208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5687568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Igrač klikne na interaktivnu Google Maps mapu da postavi pin na pretpostavljenu lokaciju. Potvrdom gessa server računa distancu i dodeljuje poene.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EKRANI APLIKACIJE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0F8"/>
                </a:solidFill>
                <a:latin typeface="Space Grotesk"/>
              </a:rPr>
              <a:t>Rezultati &amp; Game 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3611880"/>
          </a:xfrm>
          <a:prstGeom prst="rect">
            <a:avLst/>
          </a:prstGeom>
          <a:solidFill>
            <a:srgbClr val="1A2035"/>
          </a:solidFill>
          <a:ln w="1524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129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3350"/>
                </a:solidFill>
                <a:latin typeface="Space Mono"/>
              </a:rPr>
              <a:t>[ screenshot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93208"/>
            <a:ext cx="5303520" cy="132588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093208"/>
            <a:ext cx="50292" cy="132588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2120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221224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  <a:latin typeface="Space Grotesk"/>
              </a:rPr>
              <a:t>Rezultati runde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5614415"/>
            <a:ext cx="5093208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687568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Po isteku runde prikazuje se mapa sa pinovima svih igrača i linijama do tačne lokacije. Svaki igrač vidi distancu i poene koje je zaradio u toj rundi.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5303520" cy="3611880"/>
          </a:xfrm>
          <a:prstGeom prst="rect">
            <a:avLst/>
          </a:prstGeom>
          <a:solidFill>
            <a:srgbClr val="1A2035"/>
          </a:solidFill>
          <a:ln w="1524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0129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3350"/>
                </a:solidFill>
                <a:latin typeface="Space Mono"/>
              </a:rPr>
              <a:t>[ screenshot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5093208"/>
            <a:ext cx="5303520" cy="132588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5093208"/>
            <a:ext cx="50292" cy="132588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52120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221224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Game Over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5614415"/>
            <a:ext cx="5093208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5687568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Na kraju igre prikazuje se podijum sa top 3 igrača i detaljan skor po rundama za svakog učesnika. Host može pokrenuti novu igru klikom na Back to Lobby.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EKRANI APLIKACIJE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0F8"/>
                </a:solidFill>
                <a:latin typeface="Space Grotesk"/>
              </a:rPr>
              <a:t>Globalni Leaderboard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498079" cy="5120640"/>
          </a:xfrm>
          <a:prstGeom prst="rect">
            <a:avLst/>
          </a:prstGeom>
          <a:solidFill>
            <a:srgbClr val="1A2035"/>
          </a:solidFill>
          <a:ln w="1524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6732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3350"/>
                </a:solidFill>
                <a:latin typeface="Space Mono"/>
              </a:rPr>
              <a:t>[ screenshot ]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371600"/>
            <a:ext cx="3364992" cy="1197864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20" y="1371600"/>
            <a:ext cx="50292" cy="119786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4904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499616"/>
            <a:ext cx="2770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  <a:latin typeface="Space Grotesk"/>
              </a:rPr>
              <a:t>Globalni rang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94192" y="1883664"/>
            <a:ext cx="315468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956816"/>
            <a:ext cx="31638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Svi registrovani igrači rangirani po ukupnom skoru sakupljenom kroz sve odigrane partije.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679192"/>
            <a:ext cx="3364992" cy="1197864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679192"/>
            <a:ext cx="50292" cy="1197864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798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807208"/>
            <a:ext cx="2770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ABFF"/>
                </a:solidFill>
                <a:latin typeface="Space Grotesk"/>
              </a:rPr>
              <a:t>Kolone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94192" y="3191256"/>
            <a:ext cx="315468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3264408"/>
            <a:ext cx="31638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Rank · Player · Total Score · Games Played · Avg Score. Sortirano silazno po ukupnom skoru.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3986784"/>
            <a:ext cx="3364992" cy="1197864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3986784"/>
            <a:ext cx="50292" cy="1197864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41056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114800"/>
            <a:ext cx="2770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Ažuriranje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94192" y="4498848"/>
            <a:ext cx="3154680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4572000"/>
            <a:ext cx="31638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Skor se ažurira odmah po završetku svake igre putem Observer patterna (LeaderboardObserver).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5294376"/>
            <a:ext cx="3364992" cy="1197864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5294376"/>
            <a:ext cx="50292" cy="119786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54132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5422392"/>
            <a:ext cx="2770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  <a:latin typeface="Space Grotesk"/>
              </a:rPr>
              <a:t>Medalje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94192" y="5806440"/>
            <a:ext cx="315468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5879592"/>
            <a:ext cx="31638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Top 3 igrača dobijaju zlatnu, srebrnu i bronzanu medalju prikazane uz njihovo ime na listi.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PREGLED APLIKACIJE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Funkcionalnosti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0" cy="5212080"/>
          </a:xfrm>
          <a:prstGeom prst="rect">
            <a:avLst/>
          </a:prstGeom>
          <a:solidFill>
            <a:srgbClr val="141929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0292" cy="521208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3619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45336"/>
            <a:ext cx="3044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  <a:latin typeface="Space Grotesk"/>
              </a:rPr>
              <a:t>Gameplay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" y="1929384"/>
            <a:ext cx="342900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11680"/>
            <a:ext cx="34290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Multiplayer sobe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Host kreira sobu, igrači se pridružuju Room Code-om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Standard mod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N rundi (1–10), pobjeđuje najveći ukupni skor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Elimination mod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Najgori igrač ispada posle svake runde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Famous Locations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39 poznatih svetskih lokacija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World Locations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Nasumične lokacije putem Google Street View API-ja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Countdown između rundi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3-sekundno odbrojavanje pre svake runde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Podešavanje trajanja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Host bira trajanje runde: 30s – 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3657600" cy="5212080"/>
          </a:xfrm>
          <a:prstGeom prst="rect">
            <a:avLst/>
          </a:prstGeom>
          <a:solidFill>
            <a:srgbClr val="141929"/>
          </a:solidFill>
          <a:ln w="9525">
            <a:solidFill>
              <a:srgbClr val="5A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50292" cy="521208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3619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545336"/>
            <a:ext cx="3044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ABFF"/>
                </a:solidFill>
                <a:latin typeface="Space Grotesk"/>
              </a:rPr>
              <a:t>Komunikacija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1929384"/>
            <a:ext cx="342900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4290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Globalni chat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Real-time chat za sve igrače u sobi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Tim chat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Privatni chat samo za članove istog tima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Live pin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Međusobno kretanje pina vidljivo u realnom vremenu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Spectator mod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Gledaoci prate igru sa live pinovima svih igrača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Room Code deljenje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Jednoklično kopiranje koda sobe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Reconnect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Diskonektovani igrač može da se vrati u igru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6" y="1417320"/>
            <a:ext cx="3657600" cy="5212080"/>
          </a:xfrm>
          <a:prstGeom prst="rect">
            <a:avLst/>
          </a:prstGeom>
          <a:solidFill>
            <a:srgbClr val="141929"/>
          </a:solidFill>
          <a:ln w="9525">
            <a:solidFill>
              <a:srgbClr val="4CD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6" y="1417320"/>
            <a:ext cx="50292" cy="521208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53619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1545336"/>
            <a:ext cx="3044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Napredne opcije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5048" y="1929384"/>
            <a:ext cx="3429000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2011680"/>
            <a:ext cx="34290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Timovi (2v2)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Dva tima po 2 igrača, grupni skor i pobednik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Hints — Kontinent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Hint koji otkriva kontinent lokacije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Hints — Država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Hint koji otkriva državu lokacije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Hint kazna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Svaki hint smanjuje skor runde za 15%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Bonus za preciznost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Guess unutar 100 km nosi +20% bonus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Vremenski bonus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U Elimination modu: brži guess = više poena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EF0F8"/>
                </a:solidFill>
                <a:latin typeface="DM Sans"/>
              </a:rPr>
              <a:t>▸  Globalni Leaderboard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A85B0"/>
                </a:solidFill>
                <a:latin typeface="DM Sans"/>
              </a:rPr>
              <a:t>    Rang lista svih korisnika sa ukupnim skorom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TEHNOLOGIJE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349240" cy="1353312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0292" cy="135331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453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554480"/>
            <a:ext cx="4727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  <a:latin typeface="Space Grotesk"/>
              </a:rPr>
              <a:t>Node.js + Koa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965960"/>
            <a:ext cx="512064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39112"/>
            <a:ext cx="5148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HTTP server i REST API.
Rute za autentifikaciju, kreiranje soba, tok igre i leaderboard.
Koa middleware lanac za validaciju i autentifikaciju zahteva.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3912" y="1417320"/>
            <a:ext cx="5349240" cy="1353312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3912" y="1417320"/>
            <a:ext cx="50292" cy="1353312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5453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554480"/>
            <a:ext cx="4727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ABFF"/>
                </a:solidFill>
                <a:latin typeface="Space Grotesk"/>
              </a:rPr>
              <a:t>TypeScript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1965960"/>
            <a:ext cx="512064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2039112"/>
            <a:ext cx="5148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Statičko tipiziranje kroz ceo backend — interfejsi, generici, union tipovi.
Kompajler hvata greške pre pokretanja: pogrešni tipovi, nedostajući argumenti.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16936"/>
            <a:ext cx="5349240" cy="1353312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16936"/>
            <a:ext cx="50292" cy="1353312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0449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054096"/>
            <a:ext cx="4727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TypeDI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" y="3465576"/>
            <a:ext cx="5120640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538728"/>
            <a:ext cx="5148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Dependency Injection kontejner. @Service dekorator označava klasu kao singleton.
Framework automatski injektuje zavisnosti u konstruktor — nema ručnog new().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2916936"/>
            <a:ext cx="5349240" cy="1353312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2916936"/>
            <a:ext cx="50292" cy="135331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30449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4264" y="3054096"/>
            <a:ext cx="4727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  <a:latin typeface="Space Grotesk"/>
              </a:rPr>
              <a:t>WebSocket (ws)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2784" y="3465576"/>
            <a:ext cx="512064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3538728"/>
            <a:ext cx="5148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Native WebSocket server, bez Socket.IO. Konekcija se čuva dok god je klijent aktivan.
JWT autentifikacija na samoj konekciji (token u URL query stringu).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16552"/>
            <a:ext cx="5349240" cy="1353312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416552"/>
            <a:ext cx="50292" cy="1353312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45445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4553712"/>
            <a:ext cx="4727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ABFF"/>
                </a:solidFill>
                <a:latin typeface="Space Grotesk"/>
              </a:rPr>
              <a:t>jsonwebtoken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" y="4965192"/>
            <a:ext cx="512064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5038344"/>
            <a:ext cx="5148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JWT tokeni za autentifikaciju HTTP ruta i WebSocket konekcija.
Token se verifikuje pri svakom zahtevu i pri WS handshake-u.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53912" y="4416552"/>
            <a:ext cx="5349240" cy="1353312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50292" cy="1353312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2784" y="45445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84264" y="4553712"/>
            <a:ext cx="4727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axios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2784" y="4965192"/>
            <a:ext cx="5120640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72784" y="5038344"/>
            <a:ext cx="5148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HTTP klijent za pozive ka eksternim servisima:
Google Street View Static API (verifikacija panorama) i BigDataCloud (reverse geocoding za hintove).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TEHNOLOGIJE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Baza podataka &amp; Infrastruktura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AABFF"/>
                </a:solidFill>
                <a:latin typeface="Space Grotesk"/>
              </a:rPr>
              <a:t>🗄️  Baza podataka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349240" cy="2240280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0292" cy="224028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057400"/>
            <a:ext cx="4727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ABFF"/>
                </a:solidFill>
                <a:latin typeface="Space Grotesk"/>
              </a:rPr>
              <a:t>MongoDB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468880"/>
            <a:ext cx="512064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542032"/>
            <a:ext cx="5148072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NoSQL document baza podataka.
3 kolekcije: Users (korisnici), Rooms (sobe sa rundama i gessovima), CachedLocations (potvrđene Street View lokacije).
Embedded arrays za runde, gessove i chat poruke — bez JOIN operacija.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25112"/>
            <a:ext cx="5349240" cy="2240280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25112"/>
            <a:ext cx="50292" cy="224028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4531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0F8"/>
                </a:solidFill>
                <a:latin typeface="Space Grotesk"/>
              </a:rPr>
              <a:t>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462272"/>
            <a:ext cx="4727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ABFF"/>
                </a:solidFill>
                <a:latin typeface="Space Grotesk"/>
              </a:rPr>
              <a:t>Mongoose ODM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4873752"/>
            <a:ext cx="512064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946904"/>
            <a:ext cx="5148072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Object-Document Mapper za TypeScript.
Svaka kolekcija ima Schema (tipovi, default vrednosti, validacija) i TypeScript interface (IRoom, IUser, ICachedLocation).
Domenski metodi enkapsulisani u Repository klase — servisi ne vide Mongoose direktno.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DD8A"/>
                </a:solidFill>
                <a:latin typeface="Space Grotesk"/>
              </a:rPr>
              <a:t>🚀  Infrastruktura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828800"/>
            <a:ext cx="5486400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08192" y="1920240"/>
            <a:ext cx="5486400" cy="841248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08192" y="1920240"/>
            <a:ext cx="50292" cy="841248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213969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0F8"/>
                </a:solidFill>
                <a:latin typeface="Space Grotesk"/>
              </a:rPr>
              <a:t>🖥️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215798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DD8A"/>
                </a:solidFill>
                <a:latin typeface="Space Grotesk"/>
              </a:rPr>
              <a:t>Hetzner CX22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2871216"/>
            <a:ext cx="5486400" cy="841248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08192" y="2871216"/>
            <a:ext cx="50292" cy="841248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2784" y="309067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0F8"/>
                </a:solidFill>
                <a:latin typeface="Space Grotesk"/>
              </a:rPr>
              <a:t>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1089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DD8A"/>
                </a:solidFill>
                <a:latin typeface="Space Grotesk"/>
              </a:rPr>
              <a:t>Docker Compose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3822192"/>
            <a:ext cx="5486400" cy="841248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08192" y="3822192"/>
            <a:ext cx="50292" cy="841248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4" y="404164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0F8"/>
                </a:solidFill>
                <a:latin typeface="Space Grotesk"/>
              </a:rPr>
              <a:t>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405993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DD8A"/>
                </a:solidFill>
                <a:latin typeface="Space Grotesk"/>
              </a:rPr>
              <a:t>Nginx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4773168"/>
            <a:ext cx="5486400" cy="841248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08192" y="4773168"/>
            <a:ext cx="50292" cy="841248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2784" y="499262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0F8"/>
                </a:solidFill>
                <a:latin typeface="Space Grotesk"/>
              </a:rPr>
              <a:t>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50109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DD8A"/>
                </a:solidFill>
                <a:latin typeface="Space Grotesk"/>
              </a:rPr>
              <a:t>Let's Encrypt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5724144"/>
            <a:ext cx="5486400" cy="841248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08192" y="5724144"/>
            <a:ext cx="50292" cy="841248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4" y="59436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0F8"/>
                </a:solidFill>
                <a:latin typeface="Space Grotesk"/>
              </a:rPr>
              <a:t>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596188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AABFF"/>
                </a:solidFill>
                <a:latin typeface="Space Grotesk"/>
              </a:rPr>
              <a:t>Vercel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TEHNOLOGIJE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529584" cy="2212848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0292" cy="2212848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2257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0F8"/>
                </a:solidFill>
                <a:latin typeface="Space Grotesk"/>
              </a:rPr>
              <a:t>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40864"/>
            <a:ext cx="2798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5F5F"/>
                </a:solidFill>
                <a:latin typeface="Space Grotesk"/>
              </a:rPr>
              <a:t>React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417320"/>
            <a:ext cx="3529584" cy="2212848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417320"/>
            <a:ext cx="50292" cy="2212848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32257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0F8"/>
                </a:solidFill>
                <a:latin typeface="Space Grotesk"/>
              </a:rPr>
              <a:t>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336" y="2340864"/>
            <a:ext cx="2798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AABFF"/>
                </a:solidFill>
                <a:latin typeface="Space Grotesk"/>
              </a:rPr>
              <a:t>TypeScript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417320"/>
            <a:ext cx="3529584" cy="2212848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417320"/>
            <a:ext cx="50292" cy="2212848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32257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0F8"/>
                </a:solidFill>
                <a:latin typeface="Space Grotesk"/>
              </a:rP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340864"/>
            <a:ext cx="2798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5F5F"/>
                </a:solidFill>
                <a:latin typeface="Space Grotesk"/>
              </a:rPr>
              <a:t>React Context + useReducer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58768"/>
            <a:ext cx="3529584" cy="2212848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58768"/>
            <a:ext cx="50292" cy="2212848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6402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0F8"/>
                </a:solidFill>
                <a:latin typeface="Space Grotesk"/>
              </a:rP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782312"/>
            <a:ext cx="2798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AABFF"/>
                </a:solidFill>
                <a:latin typeface="Space Grotesk"/>
              </a:rPr>
              <a:t>SCSS Modules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4256" y="3858768"/>
            <a:ext cx="3529584" cy="2212848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4256" y="3858768"/>
            <a:ext cx="50292" cy="2212848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476402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0F8"/>
                </a:solidFill>
                <a:latin typeface="Space Grotesk"/>
              </a:rPr>
              <a:t>🗺️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6" y="4782312"/>
            <a:ext cx="2798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DD8A"/>
                </a:solidFill>
                <a:latin typeface="Space Grotesk"/>
              </a:rPr>
              <a:t>Google Maps JS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2" y="3858768"/>
            <a:ext cx="3529584" cy="2212848"/>
          </a:xfrm>
          <a:prstGeom prst="rect">
            <a:avLst/>
          </a:prstGeom>
          <a:solidFill>
            <a:srgbClr val="141929"/>
          </a:solidFill>
          <a:ln w="9525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9872" y="3858768"/>
            <a:ext cx="50292" cy="221284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476402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0F8"/>
                </a:solidFill>
                <a:latin typeface="Space Grotesk"/>
              </a:rPr>
              <a:t>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9952" y="4782312"/>
            <a:ext cx="2798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C040"/>
                </a:solidFill>
                <a:latin typeface="Space Grotesk"/>
              </a:rPr>
              <a:t>WebSocket (browser native)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PERZISTENCIJA PODATAKA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Zašto MongoDB?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22392" cy="1624584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0292" cy="162458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36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45336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  <a:latin typeface="Space Grotesk"/>
              </a:rPr>
              <a:t>Embedded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938527"/>
            <a:ext cx="521208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5221224" cy="95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Cela igra živi u jednom Room dokumentu: igrači, runde, gessovi i chat.
Čitanje stanja igre = jedan MongoDB upit, bez JOIN-ova.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88208"/>
            <a:ext cx="5422392" cy="1624584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88208"/>
            <a:ext cx="50292" cy="1624584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3070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16224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ABFF"/>
                </a:solidFill>
                <a:latin typeface="Space Grotesk"/>
              </a:rPr>
              <a:t>Atomski array operatori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" y="3709415"/>
            <a:ext cx="521208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782568"/>
            <a:ext cx="5221224" cy="95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$push, $set + arrayFilters, $addToSet rade direktno na ugn. nizovima.
Guess se upisuje u rounds[i].guesses[] jednim atomskim updateom.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59096"/>
            <a:ext cx="5422392" cy="1624584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959096"/>
            <a:ext cx="50292" cy="1624584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077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87112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Fleksibilna šema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" y="5480303"/>
            <a:ext cx="5212080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5553456"/>
            <a:ext cx="5221224" cy="95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Nema SQL migracija. Novo polje (teamsEnabled) → dodamo u Schema → deploy.
SQL: ALTER TABLE + migraciona skripta za svaki strukturni change.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1417320"/>
            <a:ext cx="5440680" cy="2510028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1417320"/>
            <a:ext cx="50292" cy="2510028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8504" y="1536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⚠️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154533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Ograničenja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18504" y="1938527"/>
            <a:ext cx="5230368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2011680"/>
            <a:ext cx="5239512" cy="18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Bez ACID transakcija po defaultu — update više dokumenata nije atomski.
Nema referencijalnog integriteta: userId u Round.guess može biti invalid.
Kompleksne agregacije su neprirodnijе nego u SQL-u.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4073652"/>
            <a:ext cx="5440680" cy="2510028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4073652"/>
            <a:ext cx="50292" cy="2510028"/>
          </a:xfrm>
          <a:prstGeom prst="rect">
            <a:avLst/>
          </a:prstGeom>
          <a:solidFill>
            <a:srgbClr val="7A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41925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420166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A85B0"/>
                </a:solidFill>
                <a:latin typeface="Space Grotesk"/>
              </a:rPr>
              <a:t>Kad SQL ima smisla?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8504" y="4594859"/>
            <a:ext cx="5230368" cy="19050"/>
          </a:xfrm>
          <a:prstGeom prst="rect">
            <a:avLst/>
          </a:prstGeom>
          <a:solidFill>
            <a:srgbClr val="7A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4668012"/>
            <a:ext cx="5239512" cy="18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Finansijski sistemi, billing — gde su konzistentnost i JOIN upiti
između entiteta kritični. Za real-time game use-case MongoDB je
prirodniji izbor jer celokupno stanje igre je jedan dokument.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PERZISTENCIJA PODATAKA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Šema baze podataka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103120" cy="2331720"/>
          </a:xfrm>
          <a:prstGeom prst="rect">
            <a:avLst/>
          </a:prstGeom>
          <a:solidFill>
            <a:srgbClr val="141929"/>
          </a:solidFill>
          <a:ln w="12700">
            <a:solidFill>
              <a:srgbClr val="5A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103120" cy="502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" cy="233172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453896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AABFF"/>
                </a:solidFill>
                <a:latin typeface="Space Grotesk"/>
              </a:rPr>
              <a:t>«collection»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627632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AABFF"/>
                </a:solidFill>
                <a:latin typeface="Space Grotesk"/>
              </a:rPr>
              <a:t>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210312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1965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EEF0F8"/>
                </a:solidFill>
                <a:latin typeface="Space Mono"/>
              </a:rPr>
              <a:t>+ _id: ObjectId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username: String {unique}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email: String {unique}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password: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totalScore: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gamesPlayed: Number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─────────────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createdAt: Date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updatedAt: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13632"/>
            <a:ext cx="2103120" cy="2670048"/>
          </a:xfrm>
          <a:prstGeom prst="rect">
            <a:avLst/>
          </a:prstGeom>
          <a:solidFill>
            <a:srgbClr val="141929"/>
          </a:solidFill>
          <a:ln w="12700">
            <a:solidFill>
              <a:srgbClr val="4CD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13632"/>
            <a:ext cx="2103120" cy="502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41148" cy="2670048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3950208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CDD8A"/>
                </a:solidFill>
                <a:latin typeface="Space Grotesk"/>
              </a:rPr>
              <a:t>«collection»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4123944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CDD8A"/>
                </a:solidFill>
                <a:latin typeface="Space Grotesk"/>
              </a:rPr>
              <a:t>CachedLocation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16552"/>
            <a:ext cx="2103120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1965960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EEF0F8"/>
                </a:solidFill>
                <a:latin typeface="Space Mono"/>
              </a:rPr>
              <a:t>+ _id: ObjectId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lat: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lng: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panoId: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name: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country: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usedCount: Number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{index: true}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lastUsedAt?: Date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─────────────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createdAt: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417320"/>
            <a:ext cx="3017520" cy="5166360"/>
          </a:xfrm>
          <a:prstGeom prst="rect">
            <a:avLst/>
          </a:prstGeom>
          <a:solidFill>
            <a:srgbClr val="141929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1417320"/>
            <a:ext cx="3017520" cy="502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80" y="1417320"/>
            <a:ext cx="41148" cy="51663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80944" y="1453896"/>
            <a:ext cx="29626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0C040"/>
                </a:solidFill>
                <a:latin typeface="Space Grotesk"/>
              </a:rPr>
              <a:t>«collection»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0944" y="1627632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C040"/>
                </a:solidFill>
                <a:latin typeface="Space Grotesk"/>
              </a:rPr>
              <a:t>Room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1920240"/>
            <a:ext cx="301752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1984248"/>
            <a:ext cx="2880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EEF0F8"/>
                </a:solidFill>
                <a:latin typeface="Space Mono"/>
              </a:rPr>
              <a:t>+ _id: ObjectId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code: String {unique, UPPER}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hostId: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status: GameStatus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{enum, 5 states}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gameMode: GameMode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{standard | elimination}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locationMode: LocationMode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{famous | world}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totalRounds: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roundDurationSeconds: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currentRoundIndex: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eliminatedPlayerIds: String[]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hintsEnabled: Boolean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spectatorsAllowed: Boolean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teamsEnabled: Boolean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teamSize: Number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───────────────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players[]:   →  Player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rounds[]:    →  Round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messages[]:  →  ChatMessage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───────────────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createdAt: Date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updatedAt: 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417320"/>
            <a:ext cx="2103120" cy="1188720"/>
          </a:xfrm>
          <a:prstGeom prst="rect">
            <a:avLst/>
          </a:prstGeom>
          <a:solidFill>
            <a:srgbClr val="141929"/>
          </a:solidFill>
          <a:ln w="12700">
            <a:solidFill>
              <a:srgbClr val="5A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417320"/>
            <a:ext cx="2103120" cy="502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417320"/>
            <a:ext cx="41148" cy="118872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1453896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AABFF"/>
                </a:solidFill>
                <a:latin typeface="Space Grotesk"/>
              </a:rPr>
              <a:t>«embedded»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1627632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AABFF"/>
                </a:solidFill>
                <a:latin typeface="Space Grotesk"/>
              </a:rPr>
              <a:t>Player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920240"/>
            <a:ext cx="210312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984248"/>
            <a:ext cx="1965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EEF0F8"/>
                </a:solidFill>
                <a:latin typeface="Space Mono"/>
              </a:rPr>
              <a:t>+ userId: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username: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isHost: Boolean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score: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connected: Boolean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teamId?: Number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770632"/>
            <a:ext cx="210312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4CD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2770632"/>
            <a:ext cx="2103120" cy="502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770632"/>
            <a:ext cx="41148" cy="160020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2807208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CDD8A"/>
                </a:solidFill>
                <a:latin typeface="Space Grotesk"/>
              </a:rPr>
              <a:t>«embedded»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2980944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CDD8A"/>
                </a:solidFill>
                <a:latin typeface="Space Grotesk"/>
              </a:rPr>
              <a:t>Round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273552"/>
            <a:ext cx="2103120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33756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EEF0F8"/>
                </a:solidFill>
                <a:latin typeface="Space Mono"/>
              </a:rPr>
              <a:t>+ index: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location: Location{}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startedAt: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endedAt?: Number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───────────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guesses[]:  →  RoundGuess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535424"/>
            <a:ext cx="2103120" cy="2048256"/>
          </a:xfrm>
          <a:prstGeom prst="rect">
            <a:avLst/>
          </a:prstGeom>
          <a:solidFill>
            <a:srgbClr val="141929"/>
          </a:solidFill>
          <a:ln w="12700">
            <a:solidFill>
              <a:srgbClr val="7A8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535424"/>
            <a:ext cx="2103120" cy="502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4535424"/>
            <a:ext cx="41148" cy="2048256"/>
          </a:xfrm>
          <a:prstGeom prst="rect">
            <a:avLst/>
          </a:prstGeom>
          <a:solidFill>
            <a:srgbClr val="7A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4572000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7A85B0"/>
                </a:solidFill>
                <a:latin typeface="Space Grotesk"/>
              </a:rPr>
              <a:t>«embedded»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55664" y="4745736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A85B0"/>
                </a:solidFill>
                <a:latin typeface="Space Grotesk"/>
              </a:rPr>
              <a:t>ChatMessage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5038344"/>
            <a:ext cx="2103120" cy="19050"/>
          </a:xfrm>
          <a:prstGeom prst="rect">
            <a:avLst/>
          </a:prstGeom>
          <a:solidFill>
            <a:srgbClr val="7A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102352"/>
            <a:ext cx="1965960" cy="1453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EEF0F8"/>
                </a:solidFill>
                <a:latin typeface="Space Mono"/>
              </a:rPr>
              <a:t>+ userId: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username: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text: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timestamp: Number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23960" y="2770632"/>
            <a:ext cx="2267712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4CD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23960" y="2770632"/>
            <a:ext cx="2267712" cy="502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23960" y="2770632"/>
            <a:ext cx="41148" cy="160020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78824" y="2807208"/>
            <a:ext cx="22128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CDD8A"/>
                </a:solidFill>
                <a:latin typeface="Space Grotesk"/>
              </a:rPr>
              <a:t>«embedded»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78824" y="2980944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CDD8A"/>
                </a:solidFill>
                <a:latin typeface="Space Grotesk"/>
              </a:rPr>
              <a:t>RoundGuess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23960" y="3273552"/>
            <a:ext cx="2267712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5400" y="3337560"/>
            <a:ext cx="213055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EEF0F8"/>
                </a:solidFill>
                <a:latin typeface="Space Mono"/>
              </a:rPr>
              <a:t>+ userId: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lat: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lng: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distanceKm: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roundScore: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submittedAt: Number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2011680"/>
            <a:ext cx="36576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72784" y="1892808"/>
            <a:ext cx="146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ABFF"/>
                </a:solidFill>
                <a:latin typeface="Space Grotesk"/>
              </a:rP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1888" y="18013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5AABFF"/>
                </a:solidFill>
                <a:latin typeface="Space Mono"/>
              </a:rPr>
              <a:t>players[]  1..*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3570732"/>
            <a:ext cx="365760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72784" y="3451860"/>
            <a:ext cx="146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DD8A"/>
                </a:solidFill>
                <a:latin typeface="Space Grotesk"/>
              </a:rPr>
              <a:t>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61888" y="33604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CDD8A"/>
                </a:solidFill>
                <a:latin typeface="Space Mono"/>
              </a:rPr>
              <a:t>rounds[]   1..*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0" y="5559552"/>
            <a:ext cx="365760" cy="19050"/>
          </a:xfrm>
          <a:prstGeom prst="rect">
            <a:avLst/>
          </a:prstGeom>
          <a:solidFill>
            <a:srgbClr val="7A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72784" y="5440680"/>
            <a:ext cx="146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85B0"/>
                </a:solidFill>
                <a:latin typeface="Space Grotesk"/>
              </a:rPr>
              <a:t>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61888" y="5349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A85B0"/>
                </a:solidFill>
                <a:latin typeface="Space Mono"/>
              </a:rPr>
              <a:t>messages[] 0..*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03920" y="3570732"/>
            <a:ext cx="228600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95944" y="3451860"/>
            <a:ext cx="146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DD8A"/>
                </a:solidFill>
                <a:latin typeface="Space Grotesk"/>
              </a:rPr>
              <a:t>▶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22208" y="336042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CDD8A"/>
                </a:solidFill>
                <a:latin typeface="Space Mono"/>
              </a:rPr>
              <a:t>guesses[]  0..*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PERZISTENCIJA PODATAKA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Mongoose ODM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108960" cy="5166360"/>
          </a:xfrm>
          <a:prstGeom prst="rect">
            <a:avLst/>
          </a:prstGeom>
          <a:solidFill>
            <a:srgbClr val="141929"/>
          </a:solidFill>
          <a:ln w="12700">
            <a:solidFill>
              <a:srgbClr val="5A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108960" cy="502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" cy="516636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453896"/>
            <a:ext cx="30540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AABFF"/>
                </a:solidFill>
                <a:latin typeface="Space Grotesk"/>
              </a:rPr>
              <a:t>«interface»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6276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AABFF"/>
                </a:solidFill>
                <a:latin typeface="Space Grotesk"/>
              </a:rPr>
              <a:t>IRoom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310896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2971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EEF0F8"/>
                </a:solidFill>
                <a:latin typeface="Space Mono"/>
              </a:rPr>
              <a:t>+ code: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hostId: string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status: GameStatus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gameMode: GameMode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locationMode: LocationMode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players: Player[]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rounds: Round[]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messages: ChatMessage[]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eliminatedPlayerIds: string[]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totalRounds: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roundDurationSeconds: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currentRoundIndex: number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hintsEnabled: boolean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spectatorsAllowed: boolean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teamsEnabled: boolean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+ teamSize: number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───────────────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extends Document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108960" cy="5166360"/>
          </a:xfrm>
          <a:prstGeom prst="rect">
            <a:avLst/>
          </a:prstGeom>
          <a:solidFill>
            <a:srgbClr val="141929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108960" cy="502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41148" cy="51663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2544" y="1453896"/>
            <a:ext cx="30540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0C040"/>
                </a:solidFill>
                <a:latin typeface="Space Grotesk"/>
              </a:rPr>
              <a:t>«schema»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16276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C040"/>
                </a:solidFill>
                <a:latin typeface="Space Grotesk"/>
              </a:rPr>
              <a:t>RoomSchema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920240"/>
            <a:ext cx="310896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984248"/>
            <a:ext cx="2971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EEF0F8"/>
                </a:solidFill>
                <a:latin typeface="Space Mono"/>
              </a:rPr>
              <a:t>code: String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{required, unique, UPPER}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status: String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{enum: 5 states}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{default: 'waiting'}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gameMode: String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{enum: standard|elimination}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locationMode: String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{enum: famous|world}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players:  [PlayerSchema]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rounds:   [RoundSchema]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messages: [ChatMsgSchema]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eliminatedPlayerIds: [String]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{default: []}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hintsEnabled: Boolean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{default: false}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────────────────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  {timestamps: true}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417320"/>
            <a:ext cx="3044952" cy="5166360"/>
          </a:xfrm>
          <a:prstGeom prst="rect">
            <a:avLst/>
          </a:prstGeom>
          <a:solidFill>
            <a:srgbClr val="141929"/>
          </a:solidFill>
          <a:ln w="12700">
            <a:solidFill>
              <a:srgbClr val="4CD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417320"/>
            <a:ext cx="3044952" cy="502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417320"/>
            <a:ext cx="41148" cy="516636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1453896"/>
            <a:ext cx="29900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CDD8A"/>
                </a:solidFill>
                <a:latin typeface="Space Grotesk"/>
              </a:rPr>
              <a:t>«document»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1627632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CDD8A"/>
                </a:solidFill>
                <a:latin typeface="Space Grotesk"/>
              </a:rPr>
              <a:t>rooms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920240"/>
            <a:ext cx="3044952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984248"/>
            <a:ext cx="290779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EEF0F8"/>
                </a:solidFill>
                <a:latin typeface="Space Mono"/>
              </a:rPr>
              <a:t>_id: ObjectId  (auto)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code: "SNMWSB"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status: "playing"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gameMode: "standard"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locationMode: "famous"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totalRounds: 5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currentRoundIndex: 2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hintsEnabled: false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spectatorsAllowed: false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teamsEnabled: false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──────────────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players: Array(3)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rounds: Array(5)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messages: Array(12)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eliminatedPlayerIds: []</a:t>
            </a:r>
          </a:p>
          <a:p>
            <a:r>
              <a:rPr sz="850">
                <a:solidFill>
                  <a:srgbClr val="7A85B0"/>
                </a:solidFill>
                <a:latin typeface="Space Mono"/>
              </a:rPr>
              <a:t>──────────────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createdAt: ISODate</a:t>
            </a:r>
          </a:p>
          <a:p>
            <a:r>
              <a:rPr sz="850">
                <a:solidFill>
                  <a:srgbClr val="EEF0F8"/>
                </a:solidFill>
                <a:latin typeface="Space Mono"/>
              </a:rPr>
              <a:t>updatedAt: ISODate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4000500"/>
            <a:ext cx="548640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9664" y="3881628"/>
            <a:ext cx="146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ABFF"/>
                </a:solidFill>
                <a:latin typeface="Space Grotesk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8" y="37901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5AABFF"/>
                </a:solidFill>
                <a:latin typeface="Space Mono"/>
              </a:rPr>
              <a:t>Schema&lt;IRoom&gt;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4000500"/>
            <a:ext cx="54864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8704" y="3881628"/>
            <a:ext cx="146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C040"/>
                </a:solidFill>
                <a:latin typeface="Space Grotesk"/>
              </a:rPr>
              <a:t>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8" y="37901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0C040"/>
                </a:solidFill>
                <a:latin typeface="Space Mono"/>
              </a:rPr>
              <a:t>mongoose.model()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PERZISTENCIJA PODATAKA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Repository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2240280"/>
          </a:xfrm>
          <a:prstGeom prst="rect">
            <a:avLst/>
          </a:prstGeom>
          <a:solidFill>
            <a:srgbClr val="141929"/>
          </a:solidFill>
          <a:ln w="12700">
            <a:solidFill>
              <a:srgbClr val="5A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" cy="224028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453896"/>
            <a:ext cx="11036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AABFF"/>
                </a:solidFill>
                <a:latin typeface="Space Grotesk"/>
              </a:rPr>
              <a:t>«abstract»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627632"/>
            <a:ext cx="11036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AABFF"/>
                </a:solidFill>
                <a:latin typeface="Space Grotesk"/>
              </a:rPr>
              <a:t>BaseRepository&lt;T extends Document&gt;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11091672" cy="1905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93392"/>
            <a:ext cx="5248656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A85B0"/>
                </a:solidFill>
                <a:latin typeface="Space Mono"/>
              </a:rPr>
              <a:t># model: Model&lt;T&gt;  (protected readonly)</a:t>
            </a:r>
          </a:p>
          <a:p>
            <a:r>
              <a:rPr sz="900">
                <a:solidFill>
                  <a:srgbClr val="7A85B0"/>
                </a:solidFill>
                <a:latin typeface="Space Mono"/>
              </a:rPr>
              <a:t>──────────────────────────────────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findById(id: string): Promise&lt;T | null&gt;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findOne(filter: FilterQuery&lt;T&gt;): Promise&lt;T | null&gt;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findMany(filter: FilterQuery&lt;T&gt;): Promise&lt;T[]&gt;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findPaginated(filter, opts): Promise&lt;PaginatedResult&lt;T&gt;&gt;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create(data: Partial&lt;T&gt;): Promise&lt;T&gt;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1993392"/>
            <a:ext cx="5248656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900">
                <a:solidFill>
                  <a:srgbClr val="7A85B0"/>
                </a:solidFill>
                <a:latin typeface="Space Mono"/>
              </a:rPr>
              <a:t>──────────────────────────────────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updateById(id, data: UpdateQuery&lt;T&gt;): Promise&lt;T | null&gt;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updateOne(filter, data: UpdateQuery&lt;T&gt;): void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deleteById(id: string): void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deleteMany(filter: FilterQuery&lt;T&gt;): void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exists(filter: FilterQuery&lt;T&gt;): boolean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count(filter: FilterQuery&lt;T&gt;): number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3657600"/>
            <a:ext cx="27432" cy="27432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3036" y="360273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ABFF"/>
                </a:solidFill>
                <a:latin typeface="Space Grotesk"/>
              </a:rPr>
              <a:t>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0196" y="370332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AABFF"/>
                </a:solidFill>
                <a:latin typeface="Space Grotesk"/>
              </a:rPr>
              <a:t>extends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1091672" cy="2651760"/>
          </a:xfrm>
          <a:prstGeom prst="rect">
            <a:avLst/>
          </a:prstGeom>
          <a:solidFill>
            <a:srgbClr val="141929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11091672" cy="502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41148" cy="26517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968496"/>
            <a:ext cx="11036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0C040"/>
                </a:solidFill>
                <a:latin typeface="Space Grotesk"/>
              </a:rPr>
              <a:t>«@Service() · repository»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4142232"/>
            <a:ext cx="11036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C040"/>
                </a:solidFill>
                <a:latin typeface="Space Grotesk"/>
              </a:rPr>
              <a:t>RoomRepository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34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507992"/>
            <a:ext cx="5248656" cy="2039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A85B0"/>
                </a:solidFill>
                <a:latin typeface="Space Mono"/>
              </a:rPr>
              <a:t>  extends BaseRepository&lt;IRoom&gt;</a:t>
            </a:r>
          </a:p>
          <a:p>
            <a:r>
              <a:rPr sz="900">
                <a:solidFill>
                  <a:srgbClr val="7A85B0"/>
                </a:solidFill>
                <a:latin typeface="Space Mono"/>
              </a:rPr>
              <a:t>──────────────────────────────────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findByCode(code: string): Promise&lt;IRoom | null&gt;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createRoom(data: {...}): Promise&lt;IRoom&gt;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addPlayer(roomId, player): Promise&lt;IRoom | null&gt;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updatePlayerConnection(roomId, userId, bool): void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setStatus(roomId, status): Promise&lt;IRoom | null&gt;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initGame(roomId, rounds, ...): Promise&lt;IRoom | null&gt;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setRoundLocation(roomId, idx, location): void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4507992"/>
            <a:ext cx="5248656" cy="2039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900">
                <a:solidFill>
                  <a:srgbClr val="7A85B0"/>
                </a:solidFill>
                <a:latin typeface="Space Mono"/>
              </a:rPr>
              <a:t>──────────────────────────────────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updateCurrentRound(roomId, idx, ...): Promise&lt;IRoom | null&gt;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addGuessToRound(roomId, idx, guess): Promise&lt;IRoom | null&gt;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updatePlayerScore(roomId, userId, score): void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setRoundEndTime(roomId, idx, endedAt): void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addEliminatedPlayer(roomId, userId): void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updatePlayerTeam(roomId, userId, teamId): void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addMessage(roomId, msg): void</a:t>
            </a:r>
          </a:p>
          <a:p>
            <a:r>
              <a:rPr sz="900">
                <a:solidFill>
                  <a:srgbClr val="EEF0F8"/>
                </a:solidFill>
                <a:latin typeface="Space Mono"/>
              </a:rPr>
              <a:t>+ deleteOldRooms(): void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ARHITEKTURA APLIKACIJE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Backend — slojevita arhitektura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955279" cy="640080"/>
          </a:xfrm>
          <a:prstGeom prst="rect">
            <a:avLst/>
          </a:prstGeom>
          <a:solidFill>
            <a:srgbClr val="141929"/>
          </a:solidFill>
          <a:ln w="12700">
            <a:solidFill>
              <a:srgbClr val="7A8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" cy="640080"/>
          </a:xfrm>
          <a:prstGeom prst="rect">
            <a:avLst/>
          </a:prstGeom>
          <a:solidFill>
            <a:srgbClr val="7A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90472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85B0"/>
                </a:solidFill>
                <a:latin typeface="Space Grotesk"/>
              </a:rPr>
              <a:t>Klijent (Browser)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7589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5B0"/>
                </a:solidFill>
                <a:latin typeface="DM Sans"/>
              </a:rPr>
              <a:t>React SPA — stranice, komponente, GameContext (WS + HTTP klijent)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85416"/>
            <a:ext cx="7955279" cy="640080"/>
          </a:xfrm>
          <a:prstGeom prst="rect">
            <a:avLst/>
          </a:prstGeom>
          <a:solidFill>
            <a:srgbClr val="141929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85416"/>
            <a:ext cx="54864" cy="64008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58568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  <a:latin typeface="Space Grotesk"/>
              </a:rPr>
              <a:t>Transport sloj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51176"/>
            <a:ext cx="7589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5B0"/>
                </a:solidFill>
                <a:latin typeface="DM Sans"/>
              </a:rPr>
              <a:t>HTTP REST (Koa)  +  WebSocket (ws) — dele isti Node.js 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7955279" cy="640080"/>
          </a:xfrm>
          <a:prstGeom prst="rect">
            <a:avLst/>
          </a:prstGeom>
          <a:solidFill>
            <a:srgbClr val="141929"/>
          </a:solidFill>
          <a:ln w="12700">
            <a:solidFill>
              <a:srgbClr val="5A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53512"/>
            <a:ext cx="54864" cy="64008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26664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ABFF"/>
                </a:solidFill>
                <a:latin typeface="Space Grotesk"/>
              </a:rPr>
              <a:t>Routing / Handler sloj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319272"/>
            <a:ext cx="7589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5B0"/>
                </a:solidFill>
                <a:latin typeface="DM Sans"/>
              </a:rPr>
              <a:t>auth · rooms · game · leaderboard rute  /  GameHandler rutira WS evente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21608"/>
            <a:ext cx="7955279" cy="640080"/>
          </a:xfrm>
          <a:prstGeom prst="rect">
            <a:avLst/>
          </a:prstGeom>
          <a:solidFill>
            <a:srgbClr val="141929"/>
          </a:solidFill>
          <a:ln w="12700">
            <a:solidFill>
              <a:srgbClr val="F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21608"/>
            <a:ext cx="54864" cy="64008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94760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F5F"/>
                </a:solidFill>
                <a:latin typeface="Space Grotesk"/>
              </a:rPr>
              <a:t>Middleware sloj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87368"/>
            <a:ext cx="7589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5B0"/>
                </a:solidFill>
                <a:latin typeface="DM Sans"/>
              </a:rPr>
              <a:t>JWT autentifikacija, validacija zahteva, error handling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89704"/>
            <a:ext cx="7955279" cy="640080"/>
          </a:xfrm>
          <a:prstGeom prst="rect">
            <a:avLst/>
          </a:prstGeom>
          <a:solidFill>
            <a:srgbClr val="141929"/>
          </a:solidFill>
          <a:ln w="12700">
            <a:solidFill>
              <a:srgbClr val="4CD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489704"/>
            <a:ext cx="54864" cy="64008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562856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DD8A"/>
                </a:solidFill>
                <a:latin typeface="Space Grotesk"/>
              </a:rPr>
              <a:t>Servisni sloj — biznis logika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855464"/>
            <a:ext cx="7589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5B0"/>
                </a:solidFill>
                <a:latin typeface="DM Sans"/>
              </a:rPr>
              <a:t>AuthService · RoomService · GameService · LocationService — koriste obrasce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57800"/>
            <a:ext cx="7955279" cy="640080"/>
          </a:xfrm>
          <a:prstGeom prst="rect">
            <a:avLst/>
          </a:prstGeom>
          <a:solidFill>
            <a:srgbClr val="141929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257800"/>
            <a:ext cx="54864" cy="64008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330952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  <a:latin typeface="Space Grotesk"/>
              </a:rPr>
              <a:t>Repository sloj — perzistencija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623560"/>
            <a:ext cx="7589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5B0"/>
                </a:solidFill>
                <a:latin typeface="DM Sans"/>
              </a:rPr>
              <a:t>BaseRepository&lt;T&gt; · RoomRepository · UserRepository · CachedLocationRepository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025896"/>
            <a:ext cx="7955279" cy="640080"/>
          </a:xfrm>
          <a:prstGeom prst="rect">
            <a:avLst/>
          </a:prstGeom>
          <a:solidFill>
            <a:srgbClr val="141929"/>
          </a:solidFill>
          <a:ln w="12700">
            <a:solidFill>
              <a:srgbClr val="5A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025896"/>
            <a:ext cx="54864" cy="640080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6099048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ABFF"/>
                </a:solidFill>
                <a:latin typeface="Space Grotesk"/>
              </a:rPr>
              <a:t>Baza podataka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6391656"/>
            <a:ext cx="7589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5B0"/>
                </a:solidFill>
                <a:latin typeface="DM Sans"/>
              </a:rPr>
              <a:t>MongoDB + Mongoose ODM — kolekcije: users, rooms, cachedlocations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2048256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85B0"/>
                </a:solidFill>
                <a:latin typeface="Space Grotesk"/>
              </a:rPr>
              <a:t>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2816352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85B0"/>
                </a:solidFill>
                <a:latin typeface="Space Grotesk"/>
              </a:rPr>
              <a:t>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584448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85B0"/>
                </a:solidFill>
                <a:latin typeface="Space Grotesk"/>
              </a:rPr>
              <a:t>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352544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85B0"/>
                </a:solidFill>
                <a:latin typeface="Space Grotesk"/>
              </a:rPr>
              <a:t>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12064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85B0"/>
                </a:solidFill>
                <a:latin typeface="Space Grotesk"/>
              </a:rP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888736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85B0"/>
                </a:solidFill>
                <a:latin typeface="Space Grotesk"/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19" y="1417320"/>
            <a:ext cx="2907793" cy="5248656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79" y="1554480"/>
            <a:ext cx="263347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  <a:latin typeface="Space Grotesk"/>
              </a:rPr>
              <a:t>💉  Dependency Injection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79" y="2103120"/>
            <a:ext cx="2633473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TypeDI @Service() kontejner injektuje zavisnosti kroz sve slojeve: Routes/Handler → Services → Repositories.
Svaka klasa dobija svoje zavisnosti kroz konstruktor — nema ručnog new().
Zato je svaki sloj testabilan izolovano — mock repozitorijum se ubaci umesto pravog bez izmene servisa.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ARHITEKTURA APLIKACIJE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Frontend slojevi &amp; tok podataka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212080" cy="1181862"/>
          </a:xfrm>
          <a:prstGeom prst="rect">
            <a:avLst/>
          </a:prstGeom>
          <a:solidFill>
            <a:srgbClr val="141929"/>
          </a:solidFill>
          <a:ln w="12700">
            <a:solidFill>
              <a:srgbClr val="5A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" cy="1181862"/>
          </a:xfrm>
          <a:prstGeom prst="rect">
            <a:avLst/>
          </a:prstGeom>
          <a:solidFill>
            <a:srgbClr val="5A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90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ABFF"/>
                </a:solidFill>
                <a:latin typeface="Space Grotesk"/>
              </a:rPr>
              <a:t>Stranice (Pages)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4846320" cy="724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5B0"/>
                </a:solidFill>
                <a:latin typeface="DM Sans"/>
              </a:rPr>
              <a:t>LobbyPage · GamePage · LeaderboardPage — React Router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5486"/>
            <a:ext cx="5212080" cy="1181862"/>
          </a:xfrm>
          <a:prstGeom prst="rect">
            <a:avLst/>
          </a:prstGeom>
          <a:solidFill>
            <a:srgbClr val="141929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45486"/>
            <a:ext cx="54864" cy="118186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81863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  <a:latin typeface="Space Grotesk"/>
              </a:rPr>
              <a:t>Komponente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11246"/>
            <a:ext cx="4846320" cy="724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5B0"/>
                </a:solidFill>
                <a:latin typeface="DM Sans"/>
              </a:rPr>
              <a:t>StreetViewPanel · GuessMap · Chat · Scoreboard · TeamPanel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73652"/>
            <a:ext cx="5212080" cy="1181862"/>
          </a:xfrm>
          <a:prstGeom prst="rect">
            <a:avLst/>
          </a:prstGeom>
          <a:solidFill>
            <a:srgbClr val="141929"/>
          </a:solidFill>
          <a:ln w="12700">
            <a:solidFill>
              <a:srgbClr val="4CD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73652"/>
            <a:ext cx="54864" cy="1181862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468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DD8A"/>
                </a:solidFill>
                <a:latin typeface="Space Grotesk"/>
              </a:rPr>
              <a:t>State sloj — Context + useReducer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39412"/>
            <a:ext cx="4846320" cy="724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5B0"/>
                </a:solidFill>
                <a:latin typeface="DM Sans"/>
              </a:rPr>
              <a:t>GameContext drži GameState; menja se isključivo kroz dispatch(action)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01818"/>
            <a:ext cx="5212080" cy="1181862"/>
          </a:xfrm>
          <a:prstGeom prst="rect">
            <a:avLst/>
          </a:prstGeom>
          <a:solidFill>
            <a:srgbClr val="141929"/>
          </a:solidFill>
          <a:ln w="12700">
            <a:solidFill>
              <a:srgbClr val="F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401818"/>
            <a:ext cx="54864" cy="1181862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47497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F5F"/>
                </a:solidFill>
                <a:latin typeface="Space Grotesk"/>
              </a:rPr>
              <a:t>Transport klijenti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767578"/>
            <a:ext cx="4846320" cy="724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85B0"/>
                </a:solidFill>
                <a:latin typeface="DM Sans"/>
              </a:rPr>
              <a:t>SocketClient (WS singleton, auto-reconnect) · gameApi / authApi (HTTP)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590038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85B0"/>
                </a:solidFill>
                <a:latin typeface="Space Grotesk"/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918204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85B0"/>
                </a:solidFill>
                <a:latin typeface="Space Grotesk"/>
              </a:rP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4637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85B0"/>
                </a:solidFill>
                <a:latin typeface="Space Grotesk"/>
              </a:rPr>
              <a:t>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417320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  <a:latin typeface="Space Grotesk"/>
              </a:rPr>
              <a:t>Tok podataka — primer: slanje pogotka (submitGuess)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874520"/>
            <a:ext cx="5605272" cy="70866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2073402"/>
            <a:ext cx="310896" cy="310896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0B14"/>
                </a:solidFill>
                <a:latin typeface="Space Grotesk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991106"/>
            <a:ext cx="4919472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EF0F8"/>
                </a:solidFill>
                <a:latin typeface="DM Sans"/>
              </a:rPr>
              <a:t>GuessMap (komponenta) → gameApi.submitGuess(lat, lng)  — HTTP POST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674620"/>
            <a:ext cx="5605272" cy="70866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2873502"/>
            <a:ext cx="310896" cy="310896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0B14"/>
                </a:solidFill>
                <a:latin typeface="Space Grotesk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791206"/>
            <a:ext cx="4919472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EF0F8"/>
                </a:solidFill>
                <a:latin typeface="DM Sans"/>
              </a:rPr>
              <a:t>game.routes → GameService.submitGuess()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474720"/>
            <a:ext cx="5605272" cy="70866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3673602"/>
            <a:ext cx="310896" cy="310896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0B14"/>
                </a:solidFill>
                <a:latin typeface="Space Grotesk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591306"/>
            <a:ext cx="4919472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EF0F8"/>
                </a:solidFill>
                <a:latin typeface="DM Sans"/>
              </a:rPr>
              <a:t>ScoringContext.calculate() — Strategy + Decorator obrasci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274820"/>
            <a:ext cx="5605272" cy="70866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44768" y="4473702"/>
            <a:ext cx="310896" cy="310896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0B14"/>
                </a:solidFill>
                <a:latin typeface="Space Grotesk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391406"/>
            <a:ext cx="4919472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EF0F8"/>
                </a:solidFill>
                <a:latin typeface="DM Sans"/>
              </a:rPr>
              <a:t>RoomRepository.addGuessToRound() — atomski $push u MongoDB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5074920"/>
            <a:ext cx="5605272" cy="70866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5273802"/>
            <a:ext cx="310896" cy="310896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0B14"/>
                </a:solidFill>
                <a:latin typeface="Space Grotesk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191506"/>
            <a:ext cx="4919472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EF0F8"/>
                </a:solidFill>
                <a:latin typeface="DM Sans"/>
              </a:rPr>
              <a:t>HTTP odgovor → GameContext: dispatch({ type: 'GUESS_RESULT' })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5875020"/>
            <a:ext cx="5605272" cy="70866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44768" y="6073902"/>
            <a:ext cx="310896" cy="310896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0B14"/>
                </a:solidFill>
                <a:latin typeface="Space Grotesk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991606"/>
            <a:ext cx="4919472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EF0F8"/>
                </a:solidFill>
                <a:latin typeface="DM Sans"/>
              </a:rPr>
              <a:t>Kad svi pogode → broadcastToRoom('round_ended') — WebSocket svima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🏭  Factory Method — izbor provajdera lokacija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0292" cy="118872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36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45336"/>
            <a:ext cx="10497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938527"/>
            <a:ext cx="10881360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1089050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GameService treba lokaciju za svaku rundu iz dva izvora — Famous (statička lista) ili World (Google Street View API). Bez obrasca bi servis sam proveravao if/else i poznavao obe implementacije direktno.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1091672" cy="3840480"/>
          </a:xfrm>
          <a:prstGeom prst="rect">
            <a:avLst/>
          </a:prstGeom>
          <a:solidFill>
            <a:srgbClr val="070910"/>
          </a:solidFill>
          <a:ln w="1270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10817352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C040"/>
                </a:solidFill>
                <a:latin typeface="Space Mono"/>
              </a:rPr>
              <a:t>«interface» ILocationProvider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+ getLocation(): Promise&lt;Location&gt;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  ↑                        ↑</a:t>
            </a:r>
          </a:p>
          <a:p>
            <a:r>
              <a:rPr sz="1200">
                <a:solidFill>
                  <a:srgbClr val="5AABFF"/>
                </a:solidFill>
                <a:latin typeface="Space Mono"/>
              </a:rPr>
              <a:t>FamousLocationProvider     WorldLocationProvider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«abstract» LocationProviderFactory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+ createProvider(mode): ILocationProvider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← factory metoda (subklasa odlučuje)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+ getLocation(mode): Promise&lt;Location&gt;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← poziva createProvider() pa getLocation()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  ↑</a:t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GameLocationProviderFactory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← konkretni kreator, zna koji provider da napravi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🏭  Factory Method — implementacija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3840480"/>
          </a:xfrm>
          <a:prstGeom prst="rect">
            <a:avLst/>
          </a:prstGeom>
          <a:solidFill>
            <a:srgbClr val="070910"/>
          </a:solidFill>
          <a:ln w="1270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817352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85B0"/>
                </a:solidFill>
                <a:latin typeface="Space Mono"/>
              </a:rPr>
              <a:t>// location-provider.factory.ts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abstract class LocationProviderFactory {</a:t>
            </a:r>
          </a:p>
          <a:p>
            <a:r>
              <a:rPr sz="1200">
                <a:solidFill>
                  <a:srgbClr val="5AABFF"/>
                </a:solidFill>
                <a:latin typeface="Space Mono"/>
              </a:rPr>
              <a:t>  abstract createProvider(mode): ILocationProvider;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async getLocation(mode) {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    const provider = this.createProvider(mode);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  return provider.getLocation();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}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}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@Service()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class GameLocationProviderFactory extends LocationProviderFactory {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createProvider(mode) {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  switch (mode) {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case 'famous': return this.famous;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case 'world':  return this.world;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  }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}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94960"/>
            <a:ext cx="5408676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50292" cy="118872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513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522976"/>
            <a:ext cx="48143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Prednosti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5916167"/>
            <a:ext cx="5198364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989320"/>
            <a:ext cx="52075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GameService ne zna ništa o FamousLocationProvider ni WorldLocationProvider. Dodavanje trećeg moda (npr. capitals) traži samo novu klasu + jedan case u createProvider().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5394960"/>
            <a:ext cx="5408676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5394960"/>
            <a:ext cx="50292" cy="118872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5513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556" y="5522976"/>
            <a:ext cx="48143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Mane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508" y="5916167"/>
            <a:ext cx="5198364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5989320"/>
            <a:ext cx="52075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Dodaje slojeve indirekcije — debug prati lanac GameService → LocationService → Factory → Provider. Ako postoji samo jedan provider, fabrika je over-engineering.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🧩  Strategy — algoritmi bodovanja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0292" cy="118872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36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45336"/>
            <a:ext cx="10497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938527"/>
            <a:ext cx="10881360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1089050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Formula za bodovanje zavisi od game moda: Standard koristi samo distancu, Elimination dodaje vremenski bonus za brzinu. Bez obrasca GameService bi imao if (gameMode === 'elimination') {...} else {...} razbacano kroz kod.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1091672" cy="3840480"/>
          </a:xfrm>
          <a:prstGeom prst="rect">
            <a:avLst/>
          </a:prstGeom>
          <a:solidFill>
            <a:srgbClr val="070910"/>
          </a:solidFill>
          <a:ln w="1270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10817352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C040"/>
                </a:solidFill>
                <a:latin typeface="Space Mono"/>
              </a:rPr>
              <a:t>«interface» ScoringStrategy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+ calculate(input: ScoringInput): number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  ↑                          ↑</a:t>
            </a:r>
          </a:p>
          <a:p>
            <a:r>
              <a:rPr sz="1200">
                <a:solidFill>
                  <a:srgbClr val="5AABFF"/>
                </a:solidFill>
                <a:latin typeface="Space Mono"/>
              </a:rPr>
              <a:t>DistanceScoringStrategy     TimeBonusScoringStrategy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(samo distanca)              (distanca + brzina)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ScoringContext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- strategy: ScoringStrategy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+ setStrategy(strategy)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+ calculate(input): number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→ this.strategy.calculate(input)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Kreira se JEDNOM pri startGame() i čuva kroz celu partiju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(in-memory mapa: Map&lt;roomCode, ScoringContext&gt;)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🧩  Strategy — implementacija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3840480"/>
          </a:xfrm>
          <a:prstGeom prst="rect">
            <a:avLst/>
          </a:prstGeom>
          <a:solidFill>
            <a:srgbClr val="070910"/>
          </a:solidFill>
          <a:ln w="1270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817352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85B0"/>
                </a:solidFill>
                <a:latin typeface="Space Mono"/>
              </a:rPr>
              <a:t>// distance.strategy.ts — Standard mod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class DistanceScoringStrategy {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calculate({ distanceKm }) {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  const ratio = Math.max(0, 1 - distanceKm / MAX_DISTANCE_KM);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    return Math.round(MAX_SCORE * ratio ** 2);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}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}  // 0km→5000  10000km→1250  20000km→0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// time-bonus.strategy.ts — Elimination mod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class TimeBonusScoringStrategy {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calculate({ distanceKm, timeTaken, roundDuration }) {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// 70% distanca + 30% brzina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    return Math.round(MAX_SCORE * (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      0.7 * distRatio ** 2 + 0.3 * timeRatio));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}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94960"/>
            <a:ext cx="5408676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50292" cy="118872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513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522976"/>
            <a:ext cx="48143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Prednosti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5916167"/>
            <a:ext cx="5198364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989320"/>
            <a:ext cx="52075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Svaki mod ima nezavisnu, testabilnu formulu. ScoringContext ne zna koja se formula koristi — samo poziva calculate(). Nova formula = nova klasa, bez izmene GameService.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5394960"/>
            <a:ext cx="5408676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5394960"/>
            <a:ext cx="50292" cy="118872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5513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556" y="5522976"/>
            <a:ext cx="48143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Mane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508" y="5916167"/>
            <a:ext cx="5198364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5989320"/>
            <a:ext cx="52075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Za samo 2 strategije korist je manja — isplati se tek kad broj varijanti raste. Klijent (GameService) i dalje mora da zna KOJU strategiju bira pri startGame().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🎭  Decorator — konfiguracija sobe (GameSetup)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0292" cy="118872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36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45336"/>
            <a:ext cx="10497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938527"/>
            <a:ext cx="10881360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1089050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Soba može biti kombinacija: Standard/Elimination × Hints × Teams × Spectators = 8 kombinacija opcija. Nasleđivanjem bi trebalo 8 klasa (npr. StandardGameWithHintsAndTeams) — svaki novi feature duplira broj klasa.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1091672" cy="3840480"/>
          </a:xfrm>
          <a:prstGeom prst="rect">
            <a:avLst/>
          </a:prstGeom>
          <a:solidFill>
            <a:srgbClr val="070910"/>
          </a:solidFill>
          <a:ln w="1270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10817352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C040"/>
                </a:solidFill>
                <a:latin typeface="Space Mono"/>
              </a:rPr>
              <a:t>«interface» IGameSetup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+ describe(): string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+ buildConfig(): GameSettings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  ↑</a:t>
            </a:r>
          </a:p>
          <a:p>
            <a:r>
              <a:rPr sz="1200">
                <a:solidFill>
                  <a:srgbClr val="5AABFF"/>
                </a:solidFill>
                <a:latin typeface="Space Mono"/>
              </a:rPr>
              <a:t>«abstract» GameSetupDecorator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# game: IGameSetup   (umotana instanca)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  ↑              ↑              ↑</a:t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HintsDecorator   TeamsDecorator   SpectatorDecorator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StandardGameSetup  /  EliminationGameSetup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← bazni, konkretni IGameSetup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🎭  Decorator (GameSetup) — implementacija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3840480"/>
          </a:xfrm>
          <a:prstGeom prst="rect">
            <a:avLst/>
          </a:prstGeom>
          <a:solidFill>
            <a:srgbClr val="070910"/>
          </a:solidFill>
          <a:ln w="1270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817352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85B0"/>
                </a:solidFill>
                <a:latin typeface="Space Mono"/>
              </a:rPr>
              <a:t>// room.service.ts — createRoom()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let gameSetup: IGameSetup = gameMode === 'elimination'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  ? new EliminationGameSetup()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  : new StandardGameSetup();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// slaganje dekoratora — uslovno, po jedan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if (hintsEnabled)</a:t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  gameSetup = new HintsDecorator(gameSetup);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if (spectatorsAllowed)</a:t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  gameSetup = new SpectatorDecorator(gameSetup);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if (teamsEnabled)</a:t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  gameSetup = new TeamsDecorator(gameSetup, teamSize);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const settings = gameSetup.buildConfig();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// describe() → 'Elimination + Hints + Teams (2v2)'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94960"/>
            <a:ext cx="5408676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50292" cy="118872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513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522976"/>
            <a:ext cx="48143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Prednosti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5916167"/>
            <a:ext cx="5198364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989320"/>
            <a:ext cx="52075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8 kombinacija bez 8 klasa — svaki dekorator dodaje samo svoju izmenu. Novi feature = jedna nova klasa, bez menjanja postojećih. describe() se lančano slaže za log/debug.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5394960"/>
            <a:ext cx="5408676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5394960"/>
            <a:ext cx="50292" cy="118872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5513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556" y="5522976"/>
            <a:ext cx="48143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Mane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508" y="5916167"/>
            <a:ext cx="5198364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5989320"/>
            <a:ext cx="52075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Redosled umotavanja može biti bitan ako dekoratori nisu nezavisni. Debug zahteva praćenje celog lanca umotavanja da bi se video finalni config.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🎭  Decorator — modifikatori bodova (Scoring)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0292" cy="118872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36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45336"/>
            <a:ext cx="10497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938527"/>
            <a:ext cx="10881360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1089050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Hint penal (-15% po hintu) i accuracy bonus (+20% na &lt;100km) treba primeniti povrh bazne formule, za oba game moda. Nasleđivanjem bi trebalo DistanceWithHintPenaltyAndBonus, TimeBonusWithHintPenaltyAndBonus... kombinatorijalna eksplozija.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1091672" cy="3840480"/>
          </a:xfrm>
          <a:prstGeom prst="rect">
            <a:avLst/>
          </a:prstGeom>
          <a:solidFill>
            <a:srgbClr val="070910"/>
          </a:solidFill>
          <a:ln w="1270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10817352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C040"/>
                </a:solidFill>
                <a:latin typeface="Space Mono"/>
              </a:rPr>
              <a:t>«abstract» ScoringDecorator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# strategy: ScoringStrategy   (umotana)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  ↑                          ↑</a:t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HintPenaltyDecorator        AccuracyBonusDecorator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×(1-0.15)^hintsUsed          ×1.20 ako distanca &lt; 100km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5AABFF"/>
                </a:solidFill>
                <a:latin typeface="Space Mono"/>
              </a:rPr>
              <a:t>Primer: Elimination, 2 hinta, pogodak 50km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TimeBonusScoringStrategy.calculate()   → 3200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  HintPenaltyDecorator: ×0.72 (2 hinta) → 2304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  AccuracyBonusDecorator: 50km &lt; 100 → ×1.20</a:t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  FINALNI SKOR → 2764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🎭  Decorator (Scoring) — implementacija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3840480"/>
          </a:xfrm>
          <a:prstGeom prst="rect">
            <a:avLst/>
          </a:prstGeom>
          <a:solidFill>
            <a:srgbClr val="070910"/>
          </a:solidFill>
          <a:ln w="1270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817352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85B0"/>
                </a:solidFill>
                <a:latin typeface="Space Mono"/>
              </a:rPr>
              <a:t>// hint-penalty.decorator.ts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class HintPenaltyDecorator extends ScoringDecorator {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calculate(input) {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  const base = this.strategy.calculate(input);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    const mult = (1 - 0.15) ** (input.hintsUsed ?? 0);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    return Math.round(base * mult);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}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}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// slaganje u GameService.startGame()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let strategy = gameMode === 'elimination'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? new TimeBonusScoringStrategy()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: new DistanceScoringStrategy();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if (room.hintsEnabled)</a:t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  strategy = new HintPenaltyDecorator(strategy);</a:t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strategy = new AccuracyBonusDecorator(strategy);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94960"/>
            <a:ext cx="5408676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50292" cy="118872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513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522976"/>
            <a:ext cx="48143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Prednosti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5916167"/>
            <a:ext cx="5198364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989320"/>
            <a:ext cx="52075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Svaki dekorator ima jednu odgovornost i testira se izolovano. Kombinacije penala i bonusa menjaju se u runtime-u bez ijedne nove klase.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5394960"/>
            <a:ext cx="5408676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5394960"/>
            <a:ext cx="50292" cy="118872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5513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556" y="5522976"/>
            <a:ext cx="48143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Mane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508" y="5916167"/>
            <a:ext cx="5198364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5989320"/>
            <a:ext cx="52075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Redosled slaganja je bitan — AccuracyBonusDecorator mora biti spolja jer se primenjuje na finalni skor. Greška u formuli zahteva praćenje celog lanca poziva.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👁️  Observer — obaveštenja pri kraju igre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0292" cy="118872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36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45336"/>
            <a:ext cx="10497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938527"/>
            <a:ext cx="10881360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1089050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Kad igra završi treba: (1) emitovati game_over event svim igračima i (2) ažurirati globalni leaderboard u bazi. Bez obrasca GameService bi direktno zavisio od UserRepository-ja i WebSocket infrastrukture.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1091672" cy="3840480"/>
          </a:xfrm>
          <a:prstGeom prst="rect">
            <a:avLst/>
          </a:prstGeom>
          <a:solidFill>
            <a:srgbClr val="070910"/>
          </a:solidFill>
          <a:ln w="1270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10817352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C040"/>
                </a:solidFill>
                <a:latin typeface="Space Mono"/>
              </a:rPr>
              <a:t>«interface» GameObserver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+ onGameOver(event): Promise&lt;void&gt;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  ↑                          ↑</a:t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LeaderboardObserver          BroadcastObserver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ažurira UserRepository        broadcastToRoom(WS)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5AABFF"/>
                </a:solidFill>
                <a:latin typeface="Space Mono"/>
              </a:rPr>
              <a:t>«abstract» GameEventSubject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- observers: GameObserver[]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+ registerObserver(obs)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# notifyGameOver(event) → Promise.all(observers.map(...))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      ↑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GameService extends GameEventSubject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👁️  Observer — implementacija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3840480"/>
          </a:xfrm>
          <a:prstGeom prst="rect">
            <a:avLst/>
          </a:prstGeom>
          <a:solidFill>
            <a:srgbClr val="070910"/>
          </a:solidFill>
          <a:ln w="1270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817352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85B0"/>
                </a:solidFill>
                <a:latin typeface="Space Mono"/>
              </a:rPr>
              <a:t>// game.service.ts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class GameService extends GameEventSubject {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constructor(leaderboardObs, broadcastObs) {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  super();</a:t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    this.registerObserver(leaderboardObs);</a:t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    this.registerObserver(broadcastObs);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}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private async triggerGameOver(roomId, code) {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    await this.notifyGameOver({ roomId, ... });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}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}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class LeaderboardObserver implements GameObserver {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async onGameOver({ players }) {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  await Promise.all(players.map(p =&gt;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      userRepo.updateScore(p.userId, p.score)));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}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94960"/>
            <a:ext cx="5408676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50292" cy="118872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513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522976"/>
            <a:ext cx="48143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Prednosti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5916167"/>
            <a:ext cx="5198364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989320"/>
            <a:ext cx="52075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GameService ne zna da postoje UserRepository ni WebSocket — samo za GameObserver interfejs. Novi feature (npr. email posle igre) = nova klasa + registerObserver().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5394960"/>
            <a:ext cx="5408676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5394960"/>
            <a:ext cx="50292" cy="118872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5513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556" y="5522976"/>
            <a:ext cx="48143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Mane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508" y="5916167"/>
            <a:ext cx="5198364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5989320"/>
            <a:ext cx="52075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Promise.all odbacuje ceo poziv ako jedan observer baci grešku — u produkciji svaki observer treba da hvata sopstvene greške. Redosled notifikacija nije garantovan.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💉  Dependency Injection — TypeDI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0292" cy="118872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36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45336"/>
            <a:ext cx="10497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938527"/>
            <a:ext cx="10881360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1089050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Svaki servis zavisi od više drugih klasa (repozitorijumi, drugi servisi, observeri). Ručno kreiranje (new GameService(new RoomRepository(), ...)) čvrsto veže klase i otežava testiranje — mock se ne može lako ubaciti.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1091672" cy="3840480"/>
          </a:xfrm>
          <a:prstGeom prst="rect">
            <a:avLst/>
          </a:prstGeom>
          <a:solidFill>
            <a:srgbClr val="070910"/>
          </a:solidFill>
          <a:ln w="1270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10817352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C040"/>
                </a:solidFill>
                <a:latin typeface="Space Mono"/>
              </a:rPr>
              <a:t>IoC kontejner (TypeDI)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@Service()  →  markira klasu kao singleton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4CDD8A"/>
                </a:solidFill>
                <a:latin typeface="Space Mono"/>
              </a:rPr>
              <a:t>Container.get(GameService)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→ kreira/vraća singleton instancu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→ automatski injektuje sve zavisnosti iz konstruktora, rekurzivno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5AABFF"/>
                </a:solidFill>
                <a:latin typeface="Space Mono"/>
              </a:rPr>
              <a:t>GameService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← RoomRepository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← LocationService ← GameLocationProviderFactory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← LeaderboardObserver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  ← BroadcastObserver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💉  Dependency Injection — implementacija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3840480"/>
          </a:xfrm>
          <a:prstGeom prst="rect">
            <a:avLst/>
          </a:prstGeom>
          <a:solidFill>
            <a:srgbClr val="070910"/>
          </a:solidFill>
          <a:ln w="12700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817352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CDD8A"/>
                </a:solidFill>
                <a:latin typeface="Space Mono"/>
              </a:rPr>
              <a:t>@Service()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export class GameService extends GameEventSubject {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constructor(</a:t>
            </a:r>
          </a:p>
          <a:p>
            <a:r>
              <a:rPr sz="1200">
                <a:solidFill>
                  <a:srgbClr val="5AABFF"/>
                </a:solidFill>
                <a:latin typeface="Space Mono"/>
              </a:rPr>
              <a:t>    private readonly roomRepository: RoomRepository,</a:t>
            </a:r>
          </a:p>
          <a:p>
            <a:r>
              <a:rPr sz="1200">
                <a:solidFill>
                  <a:srgbClr val="5AABFF"/>
                </a:solidFill>
                <a:latin typeface="Space Mono"/>
              </a:rPr>
              <a:t>    private readonly locationService: LocationService,</a:t>
            </a:r>
          </a:p>
          <a:p>
            <a:r>
              <a:rPr sz="1200">
                <a:solidFill>
                  <a:srgbClr val="5AABFF"/>
                </a:solidFill>
                <a:latin typeface="Space Mono"/>
              </a:rPr>
              <a:t>    leaderboardObserver: LeaderboardObserver,</a:t>
            </a:r>
          </a:p>
          <a:p>
            <a:r>
              <a:rPr sz="1200">
                <a:solidFill>
                  <a:srgbClr val="5AABFF"/>
                </a:solidFill>
                <a:latin typeface="Space Mono"/>
              </a:rPr>
              <a:t>    broadcastObserver: BroadcastObserver,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  ) { ... }</a:t>
            </a:r>
          </a:p>
          <a:p>
            <a:r>
              <a:rPr sz="1200">
                <a:solidFill>
                  <a:srgbClr val="EEF0F8"/>
                </a:solidFill>
                <a:latin typeface="Space Mono"/>
              </a:rPr>
              <a:t>}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// u rutama:</a:t>
            </a:r>
          </a:p>
          <a:p>
            <a:r>
              <a:rPr sz="1200">
                <a:solidFill>
                  <a:srgbClr val="F0C040"/>
                </a:solidFill>
                <a:latin typeface="Space Mono"/>
              </a:rPr>
              <a:t>const gameService = () =&gt; Container.get(GameService);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/>
            </a:r>
          </a:p>
          <a:p>
            <a:r>
              <a:rPr sz="1200">
                <a:solidFill>
                  <a:srgbClr val="FF5F5F"/>
                </a:solidFill>
                <a:latin typeface="Space Mono"/>
              </a:rPr>
              <a:t>// BEZ DI (anti-pattern):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const roomRepo = new RoomRepository();</a:t>
            </a:r>
          </a:p>
          <a:p>
            <a:r>
              <a:rPr sz="1200">
                <a:solidFill>
                  <a:srgbClr val="7A85B0"/>
                </a:solidFill>
                <a:latin typeface="Space Mono"/>
              </a:rPr>
              <a:t>const gameService = new GameService(roomRepo, ...);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94960"/>
            <a:ext cx="5408676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50292" cy="118872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513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522976"/>
            <a:ext cx="48143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D8A"/>
                </a:solidFill>
                <a:latin typeface="Space Grotesk"/>
              </a:rPr>
              <a:t>Prednosti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5916167"/>
            <a:ext cx="5198364" cy="19050"/>
          </a:xfrm>
          <a:prstGeom prst="rect">
            <a:avLst/>
          </a:prstGeom>
          <a:solidFill>
            <a:srgbClr val="4CD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989320"/>
            <a:ext cx="52075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Nema ručnog new() — kontejner rešava ceo graf zavisnosti automatski. Testovi injektuju mock umesto pravog repozitorijuma bez izmene servisa.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5394960"/>
            <a:ext cx="5408676" cy="1188720"/>
          </a:xfrm>
          <a:prstGeom prst="rect">
            <a:avLst/>
          </a:prstGeom>
          <a:solidFill>
            <a:srgbClr val="141929"/>
          </a:solidFill>
          <a:ln w="9525">
            <a:solidFill>
              <a:srgbClr val="2A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5394960"/>
            <a:ext cx="50292" cy="118872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5513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0F8"/>
                </a:solidFill>
                <a:latin typeface="Space Grotesk"/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556" y="5522976"/>
            <a:ext cx="48143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5F"/>
                </a:solidFill>
                <a:latin typeface="Space Grotesk"/>
              </a:rPr>
              <a:t>Mane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508" y="5916167"/>
            <a:ext cx="5198364" cy="19050"/>
          </a:xfrm>
          <a:prstGeom prst="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5989320"/>
            <a:ext cx="52075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5B0"/>
                </a:solidFill>
                <a:latin typeface="DM Sans"/>
              </a:rPr>
              <a:t>Nije klasičan GoF obrazac — magija dekoratora otežava praćenje odakle instanca dolazi ako se ne poznaje TypeDI. Sve zavisnosti moraju biti markirane @Service().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2926080" cy="347472"/>
          </a:xfrm>
          <a:prstGeom prst="rect">
            <a:avLst/>
          </a:prstGeom>
          <a:solidFill>
            <a:srgbClr val="1A2035"/>
          </a:solidFill>
          <a:ln w="9525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0C040"/>
                </a:solidFill>
                <a:latin typeface="Space Grotesk"/>
              </a:rPr>
              <a:t>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8"/>
                </a:solidFill>
                <a:latin typeface="Space Grotesk"/>
              </a:rPr>
              <a:t>Pregled svih obrazaca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720840"/>
            <a:ext cx="11091672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1A2035"/>
          </a:solidFill>
          <a:ln w="6350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96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40"/>
                </a:solidFill>
                <a:latin typeface="Space Grotesk"/>
              </a:rPr>
              <a:t>Obrazac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996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40"/>
                </a:solidFill>
                <a:latin typeface="Space Grotesk"/>
              </a:rPr>
              <a:t>Lokacija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499616"/>
            <a:ext cx="6016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40"/>
                </a:solidFill>
                <a:latin typeface="Space Grotesk"/>
              </a:rPr>
              <a:t>Uloga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20"/>
            <a:ext cx="11091672" cy="658368"/>
          </a:xfrm>
          <a:prstGeom prst="rect">
            <a:avLst/>
          </a:prstGeom>
          <a:solidFill>
            <a:srgbClr val="141929"/>
          </a:solidFill>
          <a:ln w="6350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40"/>
                </a:solidFill>
                <a:latin typeface="DM Sans"/>
              </a:rPr>
              <a:t>Factory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patterns/factory/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057400"/>
            <a:ext cx="6016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0F8"/>
                </a:solidFill>
                <a:latin typeface="DM Sans"/>
              </a:rPr>
              <a:t>Izbor FamousLocationProvider vs WorldLocationProvider po LocationMode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32888"/>
            <a:ext cx="11091672" cy="658368"/>
          </a:xfrm>
          <a:prstGeom prst="rect">
            <a:avLst/>
          </a:prstGeom>
          <a:solidFill>
            <a:srgbClr val="0F1320"/>
          </a:solidFill>
          <a:ln w="6350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DD8A"/>
                </a:solidFill>
                <a:latin typeface="DM Sans"/>
              </a:rPr>
              <a:t>Decorator (GameSetup)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15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patterns/game-setup/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715768"/>
            <a:ext cx="6016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0F8"/>
                </a:solidFill>
                <a:latin typeface="DM Sans"/>
              </a:rPr>
              <a:t>Kombinovanje opcija sobe (Hints, Spectators, Teams) bez nasleđivanja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91256"/>
            <a:ext cx="11091672" cy="658368"/>
          </a:xfrm>
          <a:prstGeom prst="rect">
            <a:avLst/>
          </a:prstGeom>
          <a:solidFill>
            <a:srgbClr val="141929"/>
          </a:solidFill>
          <a:ln w="6350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741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DD8A"/>
                </a:solidFill>
                <a:latin typeface="DM Sans"/>
              </a:rPr>
              <a:t>Decorator (Scoring)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3741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patterns/scoring/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374136"/>
            <a:ext cx="6016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0F8"/>
                </a:solidFill>
                <a:latin typeface="DM Sans"/>
              </a:rPr>
              <a:t>Hint penal i accuracy bonus povrh bazne scoring strategije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49624"/>
            <a:ext cx="11091672" cy="658368"/>
          </a:xfrm>
          <a:prstGeom prst="rect">
            <a:avLst/>
          </a:prstGeom>
          <a:solidFill>
            <a:srgbClr val="0F1320"/>
          </a:solidFill>
          <a:ln w="6350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325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ABFF"/>
                </a:solidFill>
                <a:latin typeface="DM Sans"/>
              </a:rP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0325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patterns/scoring/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032504"/>
            <a:ext cx="6016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0F8"/>
                </a:solidFill>
                <a:latin typeface="DM Sans"/>
              </a:rPr>
              <a:t>Zamenjivi algoritmi bodovanja (Distance, TimeBonus)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07992"/>
            <a:ext cx="11091672" cy="658368"/>
          </a:xfrm>
          <a:prstGeom prst="rect">
            <a:avLst/>
          </a:prstGeom>
          <a:solidFill>
            <a:srgbClr val="141929"/>
          </a:solidFill>
          <a:ln w="6350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90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5F5F"/>
                </a:solidFill>
                <a:latin typeface="DM Sans"/>
              </a:rPr>
              <a:t>Observer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6908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patterns/observer/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4690872"/>
            <a:ext cx="6016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0F8"/>
                </a:solidFill>
                <a:latin typeface="DM Sans"/>
              </a:rPr>
              <a:t>LeaderboardObserver i BroadcastObserver reaguju na kraj igre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66360"/>
            <a:ext cx="11091672" cy="658368"/>
          </a:xfrm>
          <a:prstGeom prst="rect">
            <a:avLst/>
          </a:prstGeom>
          <a:solidFill>
            <a:srgbClr val="0F1320"/>
          </a:solidFill>
          <a:ln w="6350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40"/>
                </a:solidFill>
                <a:latin typeface="DM Sans"/>
              </a:rPr>
              <a:t>Repository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database/repositories/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5349240"/>
            <a:ext cx="6016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0F8"/>
                </a:solidFill>
                <a:latin typeface="DM Sans"/>
              </a:rPr>
              <a:t>BaseRepository&lt;T&gt; + RoomRepository — apstrakcija nad Mongoose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824728"/>
            <a:ext cx="11091672" cy="658368"/>
          </a:xfrm>
          <a:prstGeom prst="rect">
            <a:avLst/>
          </a:prstGeom>
          <a:solidFill>
            <a:srgbClr val="141929"/>
          </a:solidFill>
          <a:ln w="6350">
            <a:solidFill>
              <a:srgbClr val="22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007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ABFF"/>
                </a:solidFill>
                <a:latin typeface="DM Sans"/>
              </a:rPr>
              <a:t>Dependency Injection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60076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5B0"/>
                </a:solidFill>
                <a:latin typeface="DM Sans"/>
              </a:rPr>
              <a:t>ceo 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6007608"/>
            <a:ext cx="6016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0F8"/>
                </a:solidFill>
                <a:latin typeface="DM Sans"/>
              </a:rPr>
              <a:t>TypeDI @Service() — upravljanje lifecycle-om i zavisnostima servisa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